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8" r:id="rId5"/>
    <p:sldId id="269" r:id="rId6"/>
    <p:sldId id="267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36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Shape 1"/>
          <p:cNvSpPr/>
          <p:nvPr/>
        </p:nvSpPr>
        <p:spPr>
          <a:xfrm>
            <a:off x="5577371" y="0"/>
            <a:ext cx="3567113" cy="514350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-484"/>
            <a:ext cx="5486400" cy="52388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626715"/>
            <a:ext cx="48354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51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ORBYTE SMART SME CHALLENGE · DOMAIN 2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40035" y="1059061"/>
            <a:ext cx="2800938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35"/>
              </a:spcBef>
              <a:buNone/>
            </a:pPr>
            <a:r>
              <a:rPr lang="en-US" sz="5040" b="1" kern="0" spc="-35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SOPBox</a:t>
            </a:r>
            <a:endParaRPr lang="en-US" sz="5040" dirty="0"/>
          </a:p>
        </p:txBody>
      </p:sp>
      <p:sp>
        <p:nvSpPr>
          <p:cNvPr id="7" name="Text 5"/>
          <p:cNvSpPr/>
          <p:nvPr/>
        </p:nvSpPr>
        <p:spPr>
          <a:xfrm>
            <a:off x="640035" y="1936031"/>
            <a:ext cx="483466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223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</a:rPr>
              <a:t>AI Reads. Rules check. You approve.</a:t>
            </a:r>
            <a:endParaRPr lang="en-US" sz="2230" dirty="0"/>
          </a:p>
        </p:txBody>
      </p:sp>
      <p:sp>
        <p:nvSpPr>
          <p:cNvPr id="9" name="Text 7"/>
          <p:cNvSpPr/>
          <p:nvPr/>
        </p:nvSpPr>
        <p:spPr>
          <a:xfrm>
            <a:off x="640035" y="2787179"/>
            <a:ext cx="4426334" cy="49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reads and drafts. Rules check. People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approve.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640035" y="3571949"/>
            <a:ext cx="5180796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practical check at the point stock enters the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127031" y="976722"/>
            <a:ext cx="2376487" cy="2881313"/>
          </a:xfrm>
          <a:prstGeom prst="rect">
            <a:avLst/>
          </a:prstGeom>
          <a:solidFill>
            <a:srgbClr val="F8F7F1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87" y="1412453"/>
            <a:ext cx="2009775" cy="20097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5091596"/>
            <a:ext cx="5486400" cy="52388"/>
          </a:xfrm>
          <a:prstGeom prst="rect">
            <a:avLst/>
          </a:prstGeom>
          <a:solidFill>
            <a:srgbClr val="F08A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924175" cy="514350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678135"/>
            <a:ext cx="24236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 · AINA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1040978"/>
            <a:ext cx="1590452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r>
              <a:rPr lang="en-US" sz="4320" b="1" kern="0" spc="-259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10:15</a:t>
            </a:r>
            <a:endParaRPr lang="en-US" sz="4320" dirty="0"/>
          </a:p>
        </p:txBody>
      </p:sp>
      <p:sp>
        <p:nvSpPr>
          <p:cNvPr id="6" name="Text 4"/>
          <p:cNvSpPr/>
          <p:nvPr/>
        </p:nvSpPr>
        <p:spPr>
          <a:xfrm>
            <a:off x="548580" y="1778347"/>
            <a:ext cx="22688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87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Supplier at the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548580" y="2035076"/>
            <a:ext cx="8222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87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door.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548580" y="2530822"/>
            <a:ext cx="2502307" cy="750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Aina is receiving stock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the kitchen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prepares for service.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3566145" y="369540"/>
            <a:ext cx="304539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RECURRING SME CHORE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65699" y="571178"/>
            <a:ext cx="557152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2590" b="1" kern="0" spc="-117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workload leaves gaps</a:t>
            </a:r>
            <a:endParaRPr lang="en-US" sz="2590" dirty="0"/>
          </a:p>
        </p:txBody>
      </p:sp>
      <p:sp>
        <p:nvSpPr>
          <p:cNvPr id="11" name="Text 9"/>
          <p:cNvSpPr/>
          <p:nvPr/>
        </p:nvSpPr>
        <p:spPr>
          <a:xfrm>
            <a:off x="3566145" y="956824"/>
            <a:ext cx="5704828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delivery must match the order, pack size and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handling rules (SOP).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3565699" y="1439428"/>
            <a:ext cx="4938712" cy="1123950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3566145" y="1622971"/>
            <a:ext cx="3970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4206180" y="1618208"/>
            <a:ext cx="216952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rules vary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206180" y="1914599"/>
            <a:ext cx="5222104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limits, storage areas and handling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steps differ by item.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3565699" y="2561965"/>
            <a:ext cx="4938712" cy="1123950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3566145" y="2745507"/>
            <a:ext cx="440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4206180" y="2740744"/>
            <a:ext cx="3108179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Units do not always match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206180" y="3037136"/>
            <a:ext cx="4529172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must convert bundles and cartons before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can be updated.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3565699" y="3684501"/>
            <a:ext cx="4938712" cy="1128713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3566145" y="3868043"/>
            <a:ext cx="4452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4206180" y="3863280"/>
            <a:ext cx="288016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Checks are hard to trace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4206180" y="4159672"/>
            <a:ext cx="5641657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Rushed comparisons can miss shortages or unsafe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readings.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148344" y="4867044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793385" y="4842309"/>
            <a:ext cx="1099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0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5699" y="1439428"/>
            <a:ext cx="4938712" cy="112395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5699" y="2561965"/>
            <a:ext cx="4938712" cy="112395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5699" y="3684501"/>
            <a:ext cx="4938712" cy="1128713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66700"/>
            <a:ext cx="111682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48580" y="496714"/>
            <a:ext cx="454503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520" b="1" kern="0" spc="-11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Guided receiving control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548580" y="947961"/>
            <a:ext cx="667037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turns a delivery check into one phone-led workflow.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9511" y="1307827"/>
            <a:ext cx="638175" cy="28575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7" name="Shape 5"/>
          <p:cNvSpPr/>
          <p:nvPr/>
        </p:nvSpPr>
        <p:spPr>
          <a:xfrm>
            <a:off x="547650" y="2004752"/>
            <a:ext cx="2562225" cy="13811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548580" y="2191196"/>
            <a:ext cx="12427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548580" y="2621310"/>
            <a:ext cx="2697621" cy="750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delivery lines and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 unclear values for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review.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290850" y="2004752"/>
            <a:ext cx="2562225" cy="1381125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3291780" y="2191196"/>
            <a:ext cx="18486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Rules check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3291780" y="2621310"/>
            <a:ext cx="2332185" cy="750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 temperature, pack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conversion and quantity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due on the order.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034050" y="2004752"/>
            <a:ext cx="2562225" cy="1381125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6034980" y="2191196"/>
            <a:ext cx="23612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approve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6034980" y="2621310"/>
            <a:ext cx="2940531" cy="750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failed check waits for an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authorized manager to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decide.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547688" y="3964670"/>
            <a:ext cx="8048625" cy="509587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01111" y="4100400"/>
            <a:ext cx="75664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Accuracy + ease    </a:t>
            </a: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Guided phone steps; same confirmed inputs give the same rules result.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548580" y="4767337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819132" y="4767337"/>
            <a:ext cx="1066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108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2004752"/>
            <a:ext cx="2562225" cy="1381125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0850" y="2004752"/>
            <a:ext cx="2562225" cy="1381125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4050" y="2004752"/>
            <a:ext cx="2562225" cy="1381125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66700"/>
            <a:ext cx="22293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IN USE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48580" y="496714"/>
            <a:ext cx="4644866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520" b="1" kern="0" spc="-11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tools behind SOPBox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548580" y="947961"/>
            <a:ext cx="87816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Orbyte shapes the interface. Replit runs the app. RunPod reads delivery photos.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9511" y="1307827"/>
            <a:ext cx="638175" cy="28575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7" name="Shape 5"/>
          <p:cNvSpPr/>
          <p:nvPr/>
        </p:nvSpPr>
        <p:spPr>
          <a:xfrm>
            <a:off x="1415876" y="1816150"/>
            <a:ext cx="642938" cy="642938"/>
          </a:xfrm>
          <a:prstGeom prst="rect">
            <a:avLst/>
          </a:prstGeom>
          <a:solidFill>
            <a:srgbClr val="E4EDD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64" y="1944737"/>
            <a:ext cx="385763" cy="3857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2658" y="2539454"/>
            <a:ext cx="1129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46"/>
              </a:spcBef>
              <a:buNone/>
            </a:pPr>
            <a:r>
              <a:rPr lang="en-US" sz="19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Orbyte</a:t>
            </a:r>
            <a:endParaRPr lang="en-US" sz="1940" dirty="0"/>
          </a:p>
        </p:txBody>
      </p:sp>
      <p:sp>
        <p:nvSpPr>
          <p:cNvPr id="10" name="Text 7"/>
          <p:cNvSpPr/>
          <p:nvPr/>
        </p:nvSpPr>
        <p:spPr>
          <a:xfrm>
            <a:off x="285192" y="2912046"/>
            <a:ext cx="2904158" cy="4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template for the</a:t>
            </a:r>
            <a:endParaRPr lang="en-US" sz="1440" dirty="0"/>
          </a:p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interface.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2976611" y="2412504"/>
            <a:ext cx="3559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160" dirty="0"/>
          </a:p>
        </p:txBody>
      </p:sp>
      <p:sp>
        <p:nvSpPr>
          <p:cNvPr id="13" name="Text 10"/>
          <p:cNvSpPr/>
          <p:nvPr/>
        </p:nvSpPr>
        <p:spPr>
          <a:xfrm>
            <a:off x="3046746" y="2830562"/>
            <a:ext cx="2157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03"/>
              </a:spcBef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250457" y="1816150"/>
            <a:ext cx="642938" cy="642938"/>
          </a:xfrm>
          <a:prstGeom prst="rect">
            <a:avLst/>
          </a:prstGeom>
          <a:solidFill>
            <a:srgbClr val="123F2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044" y="1944737"/>
            <a:ext cx="385763" cy="3857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88487" y="2539454"/>
            <a:ext cx="96687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46"/>
              </a:spcBef>
              <a:buNone/>
            </a:pPr>
            <a:r>
              <a:rPr lang="en-US" sz="19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Replit</a:t>
            </a:r>
            <a:endParaRPr lang="en-US" sz="1940" dirty="0"/>
          </a:p>
        </p:txBody>
      </p:sp>
      <p:sp>
        <p:nvSpPr>
          <p:cNvPr id="17" name="Text 13"/>
          <p:cNvSpPr/>
          <p:nvPr/>
        </p:nvSpPr>
        <p:spPr>
          <a:xfrm>
            <a:off x="3400086" y="2912046"/>
            <a:ext cx="2343753" cy="4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Autoscale hosts the</a:t>
            </a:r>
            <a:endParaRPr lang="en-US" sz="1440" dirty="0"/>
          </a:p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app and API.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3116945" y="3418359"/>
            <a:ext cx="29099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· Python rules · PostgreSQL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5811266" y="2309664"/>
            <a:ext cx="3559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↔</a:t>
            </a:r>
            <a:endParaRPr lang="en-US" sz="2160" dirty="0"/>
          </a:p>
        </p:txBody>
      </p:sp>
      <p:sp>
        <p:nvSpPr>
          <p:cNvPr id="20" name="Text 16"/>
          <p:cNvSpPr/>
          <p:nvPr/>
        </p:nvSpPr>
        <p:spPr>
          <a:xfrm>
            <a:off x="5715967" y="2727722"/>
            <a:ext cx="54664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</a:t>
            </a:r>
            <a:endParaRPr lang="en-US" sz="1080" dirty="0"/>
          </a:p>
          <a:p>
            <a:pPr marL="0" indent="0" algn="ctr">
              <a:lnSpc>
                <a:spcPts val="1620"/>
              </a:lnSpc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text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7085112" y="1697310"/>
            <a:ext cx="642938" cy="642938"/>
          </a:xfrm>
          <a:prstGeom prst="rect">
            <a:avLst/>
          </a:prstGeom>
          <a:solidFill>
            <a:srgbClr val="E4EDDD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99" y="1825898"/>
            <a:ext cx="385763" cy="38576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83366" y="2420615"/>
            <a:ext cx="124635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46"/>
              </a:spcBef>
              <a:buNone/>
            </a:pPr>
            <a:r>
              <a:rPr lang="en-US" sz="19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RunPod</a:t>
            </a:r>
            <a:endParaRPr lang="en-US" sz="1940" dirty="0"/>
          </a:p>
        </p:txBody>
      </p:sp>
      <p:sp>
        <p:nvSpPr>
          <p:cNvPr id="24" name="Text 19"/>
          <p:cNvSpPr/>
          <p:nvPr/>
        </p:nvSpPr>
        <p:spPr>
          <a:xfrm>
            <a:off x="6310123" y="2793206"/>
            <a:ext cx="2192841" cy="71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Qwen3-VL reads</a:t>
            </a:r>
            <a:endParaRPr lang="en-US" sz="1440" dirty="0"/>
          </a:p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delivery-document</a:t>
            </a:r>
            <a:endParaRPr lang="en-US" sz="1440" dirty="0"/>
          </a:p>
          <a:p>
            <a:pPr marL="0" indent="0" algn="ctr">
              <a:lnSpc>
                <a:spcPts val="1872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photos.</a:t>
            </a:r>
            <a:endParaRPr lang="en-US" sz="1440" dirty="0"/>
          </a:p>
        </p:txBody>
      </p:sp>
      <p:sp>
        <p:nvSpPr>
          <p:cNvPr id="25" name="Text 20"/>
          <p:cNvSpPr/>
          <p:nvPr/>
        </p:nvSpPr>
        <p:spPr>
          <a:xfrm>
            <a:off x="6752883" y="3537272"/>
            <a:ext cx="130739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43"/>
              </a:spcBef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Serverless GPU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40556" y="3826520"/>
            <a:ext cx="7862887" cy="700088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27" name="Text 22"/>
          <p:cNvSpPr/>
          <p:nvPr/>
        </p:nvSpPr>
        <p:spPr>
          <a:xfrm>
            <a:off x="868635" y="3929658"/>
            <a:ext cx="8621970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extracts words. Python checks quantities, prices, products and pass/fail. Staff decide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exceptions.</a:t>
            </a:r>
            <a:endParaRPr lang="en-US" sz="1440" dirty="0"/>
          </a:p>
        </p:txBody>
      </p:sp>
      <p:sp>
        <p:nvSpPr>
          <p:cNvPr id="28" name="Text 23"/>
          <p:cNvSpPr/>
          <p:nvPr/>
        </p:nvSpPr>
        <p:spPr>
          <a:xfrm>
            <a:off x="548580" y="4767337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29" name="Text 24"/>
          <p:cNvSpPr/>
          <p:nvPr/>
        </p:nvSpPr>
        <p:spPr>
          <a:xfrm>
            <a:off x="6023521" y="4767337"/>
            <a:ext cx="34006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roles · human-controlled decisions</a:t>
            </a:r>
            <a:endParaRPr lang="en-US" sz="108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66700"/>
            <a:ext cx="38350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48580" y="496714"/>
            <a:ext cx="690157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520" b="1" kern="0" spc="-11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SDG pathways through receiving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548580" y="947961"/>
            <a:ext cx="736176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productive receiving and earlier visibility of food-waste risks.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9511" y="1307827"/>
            <a:ext cx="638175" cy="28575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7" name="Shape 5"/>
          <p:cNvSpPr/>
          <p:nvPr/>
        </p:nvSpPr>
        <p:spPr>
          <a:xfrm>
            <a:off x="548134" y="1800225"/>
            <a:ext cx="3795712" cy="1633538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548580" y="1855440"/>
            <a:ext cx="1209980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80" b="1" dirty="0">
                <a:solidFill>
                  <a:srgbClr val="A219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8.2</a:t>
            </a:r>
            <a:endParaRPr lang="en-US" sz="4680" dirty="0"/>
          </a:p>
        </p:txBody>
      </p:sp>
      <p:sp>
        <p:nvSpPr>
          <p:cNvPr id="9" name="Text 7"/>
          <p:cNvSpPr/>
          <p:nvPr/>
        </p:nvSpPr>
        <p:spPr>
          <a:xfrm>
            <a:off x="1563365" y="2303115"/>
            <a:ext cx="12951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86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TARGET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48580" y="2616250"/>
            <a:ext cx="42872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8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Reduce repetitive receiving tasks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48580" y="2939951"/>
            <a:ext cx="4580342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Routine entry and checks are automated,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freeing staff time for higher-value work.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800154" y="1800225"/>
            <a:ext cx="3795712" cy="1633538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4800600" y="1855440"/>
            <a:ext cx="1565397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80" b="1" dirty="0">
                <a:solidFill>
                  <a:srgbClr val="BF8B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12.3</a:t>
            </a:r>
            <a:endParaRPr lang="en-US" sz="4680" dirty="0"/>
          </a:p>
        </p:txBody>
      </p:sp>
      <p:sp>
        <p:nvSpPr>
          <p:cNvPr id="14" name="Text 12"/>
          <p:cNvSpPr/>
          <p:nvPr/>
        </p:nvSpPr>
        <p:spPr>
          <a:xfrm>
            <a:off x="6088782" y="2303115"/>
            <a:ext cx="12951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86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TARGET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800600" y="2616250"/>
            <a:ext cx="42856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8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Flag potential food-waste causes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4800600" y="2939951"/>
            <a:ext cx="4962361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 quantity or temperature problems that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contribute to waste, for staff follow-up.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47688" y="4085220"/>
            <a:ext cx="8048625" cy="390525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28" y="4168750"/>
            <a:ext cx="99175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 contribution only: prototype records do not yet prove time savings or reduced food waste.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580" y="4767337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848969" y="4767337"/>
            <a:ext cx="49275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pathways; outcomes require further controlled testing</a:t>
            </a:r>
            <a:endParaRPr lang="en-US" sz="108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134" y="1800225"/>
            <a:ext cx="3795712" cy="1633538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154" y="1800225"/>
            <a:ext cx="3795712" cy="1633538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  <p:txBody>
          <a:bodyPr/>
          <a:lstStyle/>
          <a:p>
            <a:endParaRPr lang="en-MY" dirty="0"/>
          </a:p>
        </p:txBody>
      </p:sp>
      <p:sp>
        <p:nvSpPr>
          <p:cNvPr id="3" name="Text 1"/>
          <p:cNvSpPr/>
          <p:nvPr/>
        </p:nvSpPr>
        <p:spPr>
          <a:xfrm>
            <a:off x="548580" y="266700"/>
            <a:ext cx="153279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 + SDG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48580" y="496714"/>
            <a:ext cx="582623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520" b="1" kern="0" spc="-11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Modeled value, not a pilot claim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548580" y="947961"/>
            <a:ext cx="9086121" cy="48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café scenario based on project assumptions and an external restaurant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benchmark.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9511" y="1554733"/>
            <a:ext cx="638175" cy="28575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7" name="Shape 5"/>
          <p:cNvSpPr/>
          <p:nvPr/>
        </p:nvSpPr>
        <p:spPr>
          <a:xfrm>
            <a:off x="549511" y="1903437"/>
            <a:ext cx="3838575" cy="2262187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548580" y="1912590"/>
            <a:ext cx="36401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 FOOD-WASTE SAVINGS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48580" y="2064916"/>
            <a:ext cx="3503935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5400" b="1" kern="0" spc="-324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RM6,240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580" y="2936974"/>
            <a:ext cx="35137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58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year · modeled example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48580" y="3425279"/>
            <a:ext cx="4485248" cy="73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RM20,000 food purchases/month × 10%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assumed waste × 26% benchmark</a:t>
            </a:r>
            <a:endParaRPr lang="en-US" sz="144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reduction.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846811" y="1851831"/>
            <a:ext cx="3748087" cy="1119188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4846290" y="1971601"/>
            <a:ext cx="339442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STOCK-COUNT LABOR BASELINE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46290" y="2141786"/>
            <a:ext cx="2300317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3600" b="1" kern="0" spc="-180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RM1,905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290" y="2715890"/>
            <a:ext cx="3045879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savings at normal pay estimation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846811" y="3074789"/>
            <a:ext cx="3748087" cy="1490663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4846290" y="3130228"/>
            <a:ext cx="4077399" cy="43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Weekly: 3 staff-hours · RM28.86 normal /</a:t>
            </a:r>
            <a:endParaRPr lang="en-US" sz="13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RM43.26 if all overtime.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290" y="3615705"/>
            <a:ext cx="4315085" cy="43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Monthly: 3.5 staff-hours · RM33.67 normal /</a:t>
            </a:r>
            <a:endParaRPr lang="en-US" sz="13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RM50.47 if all overtime.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290" y="4121795"/>
            <a:ext cx="4835634" cy="43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198 annual hours at overtime rate: RM2,855.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580" y="4767337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063008" y="4767337"/>
            <a:ext cx="59492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staff · 52 weekly + 12 monthly counts · RM9.62/h normal · RM14.42/h OT</a:t>
            </a:r>
            <a:endParaRPr lang="en-US" sz="108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511" y="1903437"/>
            <a:ext cx="3838575" cy="2262187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811" y="1851831"/>
            <a:ext cx="3748087" cy="1119188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6811" y="3074789"/>
            <a:ext cx="3748087" cy="1490663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266700"/>
            <a:ext cx="44694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30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ORBYTE INTEGRATION &amp; SME REUSABILITY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48580" y="496714"/>
            <a:ext cx="510911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520" b="1" kern="0" spc="-11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solution, multiple SMEs</a:t>
            </a:r>
            <a:endParaRPr lang="en-US" sz="2520" dirty="0"/>
          </a:p>
        </p:txBody>
      </p:sp>
      <p:sp>
        <p:nvSpPr>
          <p:cNvPr id="5" name="Text 3"/>
          <p:cNvSpPr/>
          <p:nvPr/>
        </p:nvSpPr>
        <p:spPr>
          <a:xfrm>
            <a:off x="548580" y="947961"/>
            <a:ext cx="71067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Configure the same receiving workflow for a mini market or café.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9511" y="1307827"/>
            <a:ext cx="638175" cy="28575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7" name="Text 5"/>
          <p:cNvSpPr/>
          <p:nvPr/>
        </p:nvSpPr>
        <p:spPr>
          <a:xfrm>
            <a:off x="548580" y="1911772"/>
            <a:ext cx="93089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2377380" y="1911772"/>
            <a:ext cx="140984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 Market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303416" y="1911772"/>
            <a:ext cx="57605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Café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48580" y="2273052"/>
            <a:ext cx="16220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types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2377380" y="2273052"/>
            <a:ext cx="252204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Groceries + beverages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303416" y="2273052"/>
            <a:ext cx="22101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Ingredients + drinks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548580" y="2634332"/>
            <a:ext cx="194248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Zones / suppliers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2377380" y="2634332"/>
            <a:ext cx="29645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Store/freezer/chiller · retail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303416" y="2634332"/>
            <a:ext cx="275924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Kitchen/chiller/dry · food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548580" y="2995613"/>
            <a:ext cx="107328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Approver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2377380" y="2995613"/>
            <a:ext cx="16651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manager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5303416" y="2995613"/>
            <a:ext cx="385877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Café owner or authorized manager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548580" y="3356893"/>
            <a:ext cx="13447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2377380" y="3356893"/>
            <a:ext cx="359012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read* + stock update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5303416" y="3356893"/>
            <a:ext cx="359012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read* + stock update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548580" y="3975912"/>
            <a:ext cx="9994300" cy="3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data per SME; configure catalogues and roles. *RunPod is required for document reading; manual entry remains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available. Excel template and submission is available incase of no internet connection.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580" y="4767337"/>
            <a:ext cx="3616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ORBYTE SMART SME CHALLENGE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608067" y="4767337"/>
            <a:ext cx="39407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Business-specific setup · shared core workflow</a:t>
            </a:r>
            <a:endParaRPr lang="en-US" sz="108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1851310"/>
            <a:ext cx="8048625" cy="366712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2217353"/>
            <a:ext cx="8048625" cy="36195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2578633"/>
            <a:ext cx="8048625" cy="36195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2939914"/>
            <a:ext cx="8048625" cy="36195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88" y="3301194"/>
            <a:ext cx="8048625" cy="361950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3908747"/>
            <a:ext cx="8048625" cy="428625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88" y="4691695"/>
            <a:ext cx="8048625" cy="2714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646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Space Grotesk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Puteri A'ina Auji Farzana</cp:lastModifiedBy>
  <cp:revision>8</cp:revision>
  <dcterms:created xsi:type="dcterms:W3CDTF">2026-10-31T12:04:26Z</dcterms:created>
  <dcterms:modified xsi:type="dcterms:W3CDTF">2026-10-31T21:02:52Z</dcterms:modified>
</cp:coreProperties>
</file>
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71" r:id="rId5"/>
    <p:sldId id="261" r:id="rId6"/>
    <p:sldId id="268" r:id="rId7"/>
    <p:sldId id="262" r:id="rId8"/>
    <p:sldId id="267" r:id="rId9"/>
    <p:sldId id="269" r:id="rId10"/>
    <p:sldId id="263" r:id="rId11"/>
    <p:sldId id="266" r:id="rId12"/>
    <p:sldId id="270" r:id="rId13"/>
    <p:sldId id="272" r:id="rId14"/>
    <p:sldId id="273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5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00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72A1-40B7-3926-2567-CE5EA8B4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69CDF-8990-2F18-C16B-582B3FA6F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EBFBC-8EA0-2727-63BB-024BA9F88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EAE1C-0B01-1C44-D0BD-E8537DF19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1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6061-29E6-DFC9-3A92-E0F324A6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76EDB-91DA-E891-D0D9-EE757C4F2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783D5-A0BB-D460-E7A1-08962478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80DF1-318E-FD86-9B3C-6D8D5F056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79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BC2D-446E-FAEF-9A7B-0ABFCF2DB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4DF0F-4AA2-86BE-FC76-C82659997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59F98-6B06-FCE4-065F-2B4536B7D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E9B6D-7286-1DB0-8C3C-9D94F5F65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87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4B31-6E2A-9964-108C-11B9AD8D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60ACC-37C0-CB9E-B060-33A5D9D15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FE82C-589D-E4A8-76C3-3E4C9D64B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7EE38-09F0-BB6A-CDAC-7CD65B34F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1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EF9B-2ABD-5156-A8F2-5E37528E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D3C0C-B0CD-D518-CB07-270C6DCDC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29603-EB9B-7054-6743-C0929CA03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6D66B-986D-A72C-924B-FC038B086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90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4303"/>
            <a:ext cx="501353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ORBYTE SMART SME CHALLENGE · DOMAIN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1430015"/>
            <a:ext cx="2850855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kern="0" spc="-302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SOPBox</a:t>
            </a:r>
            <a:endParaRPr lang="en-US" sz="5040" dirty="0"/>
          </a:p>
        </p:txBody>
      </p:sp>
      <p:sp>
        <p:nvSpPr>
          <p:cNvPr id="5" name="Text 3"/>
          <p:cNvSpPr/>
          <p:nvPr/>
        </p:nvSpPr>
        <p:spPr>
          <a:xfrm>
            <a:off x="513108" y="2609738"/>
            <a:ext cx="541026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810"/>
              </a:spcBef>
            </a:pPr>
            <a:r>
              <a:rPr lang="en-US" sz="2160" b="1" dirty="0">
                <a:solidFill>
                  <a:srgbClr val="173A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receiving checks inventory </a:t>
            </a:r>
            <a:br>
              <a:rPr lang="en-US" sz="2160" b="1" dirty="0">
                <a:solidFill>
                  <a:srgbClr val="173A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</a:br>
            <a:r>
              <a:rPr lang="en-US" sz="2160" b="1" dirty="0">
                <a:solidFill>
                  <a:srgbClr val="173A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F&amp;B SMEs</a:t>
            </a:r>
            <a:endParaRPr lang="en-US" sz="2160" dirty="0"/>
          </a:p>
          <a:p>
            <a:pPr marL="0" indent="0" algn="l">
              <a:spcBef>
                <a:spcPts val="810"/>
              </a:spcBef>
              <a:buNone/>
            </a:pP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548580" y="2529036"/>
            <a:ext cx="97248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548580" y="3042865"/>
            <a:ext cx="4577536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reads and drafts. Rules check. Humans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approve.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548580" y="4578325"/>
            <a:ext cx="4990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practical check at the point stock enters the kitchen.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34000" y="0"/>
            <a:ext cx="3810000" cy="514350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0" name="Shape 8"/>
          <p:cNvSpPr/>
          <p:nvPr/>
        </p:nvSpPr>
        <p:spPr>
          <a:xfrm>
            <a:off x="5517356" y="881025"/>
            <a:ext cx="3443288" cy="3381375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275" y="881025"/>
            <a:ext cx="3381375" cy="33813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-967" y="5081699"/>
            <a:ext cx="5305425" cy="61912"/>
          </a:xfrm>
          <a:prstGeom prst="rect">
            <a:avLst/>
          </a:prstGeom>
          <a:solidFill>
            <a:srgbClr val="F08A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5723"/>
            <a:ext cx="20282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FAMILIAR SHIFT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832408"/>
            <a:ext cx="1845841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kern="0" spc="-302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10:15</a:t>
            </a:r>
            <a:endParaRPr lang="en-US" sz="5040" dirty="0"/>
          </a:p>
        </p:txBody>
      </p:sp>
      <p:sp>
        <p:nvSpPr>
          <p:cNvPr id="6" name="Text 4"/>
          <p:cNvSpPr/>
          <p:nvPr/>
        </p:nvSpPr>
        <p:spPr>
          <a:xfrm>
            <a:off x="457200" y="1837096"/>
            <a:ext cx="2507724" cy="63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supplier is at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door.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3829"/>
            <a:ext cx="2655540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Busy shift. Staff are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receiving and preparing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products at once.</a:t>
            </a:r>
          </a:p>
          <a:p>
            <a:pPr marL="0" indent="0" algn="l">
              <a:lnSpc>
                <a:spcPts val="2340"/>
              </a:lnSpc>
              <a:buNone/>
            </a:pPr>
            <a:endParaRPr lang="en-US" sz="1440" dirty="0">
              <a:solidFill>
                <a:srgbClr val="E2EBDF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</a:rPr>
              <a:t>New Staff with no sufficient </a:t>
            </a:r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</a:rPr>
              <a:t>training time.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3596580" y="563910"/>
            <a:ext cx="628641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30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 much to remember by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3596580" y="991865"/>
            <a:ext cx="127992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kern="0" spc="-130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</a:t>
            </a:r>
            <a:endParaRPr lang="en-US" sz="3240" dirty="0"/>
          </a:p>
        </p:txBody>
      </p:sp>
      <p:sp>
        <p:nvSpPr>
          <p:cNvPr id="10" name="Text 8"/>
          <p:cNvSpPr/>
          <p:nvPr/>
        </p:nvSpPr>
        <p:spPr>
          <a:xfrm>
            <a:off x="3596580" y="1603623"/>
            <a:ext cx="581510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product brings its own rules, units and records.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3595687" y="2129991"/>
            <a:ext cx="5000625" cy="714375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3596580" y="2148483"/>
            <a:ext cx="3186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145161" y="2134195"/>
            <a:ext cx="5595997" cy="51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temperature ranges, holding times and</a:t>
            </a:r>
            <a:endParaRPr lang="en-US" sz="1510" dirty="0"/>
          </a:p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 places for each product items.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3595687" y="3064929"/>
            <a:ext cx="5000625" cy="714375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3596580" y="3083421"/>
            <a:ext cx="35239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4145161" y="3069134"/>
            <a:ext cx="4969036" cy="51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Bundle sizes vary each product; </a:t>
            </a:r>
          </a:p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consuming for staff to check pack</a:t>
            </a:r>
            <a:r>
              <a:rPr lang="en-US" sz="1510" dirty="0"/>
              <a:t> </a:t>
            </a: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conversions.</a:t>
            </a:r>
            <a:endParaRPr lang="en-US" sz="1510" dirty="0"/>
          </a:p>
        </p:txBody>
      </p:sp>
      <p:sp>
        <p:nvSpPr>
          <p:cNvPr id="17" name="Text 15"/>
          <p:cNvSpPr/>
          <p:nvPr/>
        </p:nvSpPr>
        <p:spPr>
          <a:xfrm>
            <a:off x="3596580" y="4018359"/>
            <a:ext cx="35568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145161" y="4004072"/>
            <a:ext cx="5619988" cy="51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and monthly stock counts consume time </a:t>
            </a:r>
          </a:p>
          <a:p>
            <a:pPr marL="0" indent="0" algn="l">
              <a:lnSpc>
                <a:spcPts val="2078"/>
              </a:lnSpc>
              <a:buNone/>
            </a:pPr>
            <a:r>
              <a:rPr lang="en-US" sz="151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manpower.</a:t>
            </a:r>
            <a:endParaRPr lang="en-US" sz="1510" dirty="0"/>
          </a:p>
        </p:txBody>
      </p:sp>
      <p:sp>
        <p:nvSpPr>
          <p:cNvPr id="19" name="Text 17"/>
          <p:cNvSpPr/>
          <p:nvPr/>
        </p:nvSpPr>
        <p:spPr>
          <a:xfrm>
            <a:off x="4613211" y="4741664"/>
            <a:ext cx="39822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/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Illustrative scenario by personal experience ·</a:t>
            </a:r>
            <a:endParaRPr lang="en-US" sz="108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5687" y="2129991"/>
            <a:ext cx="5000625" cy="714375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5687" y="3064929"/>
            <a:ext cx="500062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4303"/>
            <a:ext cx="24792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DECISION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08930"/>
            <a:ext cx="925870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00" b="1" kern="0" spc="-139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 and drafts. Rules check. Humans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580" y="1017836"/>
            <a:ext cx="202857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00" b="1" kern="0" spc="-139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7650" y="1834605"/>
            <a:ext cx="2562225" cy="3178412"/>
          </a:xfrm>
          <a:prstGeom prst="rect">
            <a:avLst/>
          </a:prstGeom>
          <a:solidFill>
            <a:srgbClr val="E4EDDC"/>
          </a:solidFill>
          <a:ln/>
        </p:spPr>
      </p:sp>
      <p:sp>
        <p:nvSpPr>
          <p:cNvPr id="7" name="Text 5"/>
          <p:cNvSpPr/>
          <p:nvPr/>
        </p:nvSpPr>
        <p:spPr>
          <a:xfrm>
            <a:off x="777180" y="2086794"/>
            <a:ext cx="2498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 &amp; drafts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777180" y="2643784"/>
            <a:ext cx="2679628" cy="1129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 product SOPs and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typed, scanned or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handwritten Delivery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Orders.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777180" y="4105498"/>
            <a:ext cx="2738058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review and confirm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suggested details.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290850" y="1834605"/>
            <a:ext cx="2562225" cy="3178412"/>
          </a:xfrm>
          <a:prstGeom prst="rect">
            <a:avLst/>
          </a:prstGeom>
          <a:solidFill>
            <a:srgbClr val="F0EEE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380" y="2139181"/>
            <a:ext cx="18496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Rules check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3520380" y="2603376"/>
            <a:ext cx="2744733" cy="1129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against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range; pack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conversion; quantity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against the PO.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3520380" y="4105498"/>
            <a:ext cx="2700717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pass/fail checks are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deterministic—not an AI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034050" y="1834605"/>
            <a:ext cx="2562225" cy="3178412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580" y="2086794"/>
            <a:ext cx="25398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C6E6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Humans approve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6263580" y="2550988"/>
            <a:ext cx="2701201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exception goes to a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 with its photo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and details.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263580" y="4105498"/>
            <a:ext cx="2687657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Accept, reject, return or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the decision—with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reason.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213570" y="1629147"/>
            <a:ext cx="438270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confirm extracted data before any stock decision is submitted.</a:t>
            </a:r>
            <a:endParaRPr lang="en-US" sz="108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250" y="3970288"/>
            <a:ext cx="2105025" cy="700088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0850" y="1834604"/>
            <a:ext cx="2562225" cy="3362325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9450" y="3968874"/>
            <a:ext cx="2105025" cy="1000125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2650" y="3968874"/>
            <a:ext cx="2105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3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4303"/>
            <a:ext cx="11664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08930"/>
            <a:ext cx="88308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810" b="1" kern="0" spc="-12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a receiving check needs, on the</a:t>
            </a:r>
            <a:endParaRPr lang="en-US" sz="2810" dirty="0"/>
          </a:p>
        </p:txBody>
      </p:sp>
      <p:sp>
        <p:nvSpPr>
          <p:cNvPr id="5" name="Text 3"/>
          <p:cNvSpPr/>
          <p:nvPr/>
        </p:nvSpPr>
        <p:spPr>
          <a:xfrm>
            <a:off x="548580" y="979736"/>
            <a:ext cx="627529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810" b="1" kern="0" spc="-12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phone your staff already carry</a:t>
            </a:r>
            <a:endParaRPr lang="en-US" sz="2810" dirty="0"/>
          </a:p>
        </p:txBody>
      </p:sp>
      <p:sp>
        <p:nvSpPr>
          <p:cNvPr id="6" name="Shape 4"/>
          <p:cNvSpPr/>
          <p:nvPr/>
        </p:nvSpPr>
        <p:spPr>
          <a:xfrm>
            <a:off x="549622" y="1701992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77" y="1764946"/>
            <a:ext cx="164529" cy="1645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863" y="1696188"/>
            <a:ext cx="255909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Temperature checks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50863" y="1993323"/>
            <a:ext cx="25633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or product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950863" y="2221923"/>
            <a:ext cx="21740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405"/>
              </a:spcBef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ranges; save a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950863" y="2450523"/>
            <a:ext cx="254100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 reading on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950863" y="2679123"/>
            <a:ext cx="4857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405"/>
              </a:spcBef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line.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3308077" y="1701992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31" y="1764946"/>
            <a:ext cx="164529" cy="16452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9318" y="1696188"/>
            <a:ext cx="206746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 conversion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709318" y="1997895"/>
            <a:ext cx="2768724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bundles to base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units so short deliveries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stock count are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to conduct.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Eg: 1 bundle = 250 pcs</a:t>
            </a:r>
            <a:endParaRPr lang="en-US" sz="1440" dirty="0"/>
          </a:p>
        </p:txBody>
      </p:sp>
      <p:sp>
        <p:nvSpPr>
          <p:cNvPr id="17" name="Shape 13"/>
          <p:cNvSpPr/>
          <p:nvPr/>
        </p:nvSpPr>
        <p:spPr>
          <a:xfrm>
            <a:off x="6066532" y="1701992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486" y="1764946"/>
            <a:ext cx="164529" cy="1645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7773" y="1696188"/>
            <a:ext cx="272548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SOP cards and search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67773" y="1997895"/>
            <a:ext cx="2519429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receiving, storage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handling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instructions from any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phone.</a:t>
            </a:r>
            <a:endParaRPr lang="en-US" sz="1440" dirty="0"/>
          </a:p>
        </p:txBody>
      </p:sp>
      <p:sp>
        <p:nvSpPr>
          <p:cNvPr id="21" name="Shape 16"/>
          <p:cNvSpPr/>
          <p:nvPr/>
        </p:nvSpPr>
        <p:spPr>
          <a:xfrm>
            <a:off x="581150" y="3403149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05" y="3466103"/>
            <a:ext cx="164529" cy="1645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2391" y="3397344"/>
            <a:ext cx="195060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 alerts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82391" y="3699052"/>
            <a:ext cx="2680982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managers to failed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checks; keep staff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informed of decisions.</a:t>
            </a:r>
            <a:endParaRPr lang="en-US" sz="1440" dirty="0"/>
          </a:p>
        </p:txBody>
      </p:sp>
      <p:sp>
        <p:nvSpPr>
          <p:cNvPr id="25" name="Shape 19"/>
          <p:cNvSpPr/>
          <p:nvPr/>
        </p:nvSpPr>
        <p:spPr>
          <a:xfrm>
            <a:off x="3339605" y="3403149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559" y="3466103"/>
            <a:ext cx="164529" cy="16452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0846" y="3397344"/>
            <a:ext cx="1648978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audit log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3740846" y="3699052"/>
            <a:ext cx="2706715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who received,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decided, when, and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reading.</a:t>
            </a:r>
            <a:endParaRPr lang="en-US" sz="1440" dirty="0"/>
          </a:p>
        </p:txBody>
      </p:sp>
      <p:sp>
        <p:nvSpPr>
          <p:cNvPr id="29" name="Shape 22"/>
          <p:cNvSpPr/>
          <p:nvPr/>
        </p:nvSpPr>
        <p:spPr>
          <a:xfrm>
            <a:off x="6098060" y="3403149"/>
            <a:ext cx="290513" cy="290513"/>
          </a:xfrm>
          <a:prstGeom prst="roundRect">
            <a:avLst>
              <a:gd name="adj" fmla="val 20459"/>
            </a:avLst>
          </a:prstGeom>
          <a:solidFill>
            <a:srgbClr val="123F2D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1014" y="3466103"/>
            <a:ext cx="164529" cy="16452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99301" y="3397344"/>
            <a:ext cx="2411470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Roles and separate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499301" y="3643060"/>
            <a:ext cx="152815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workspaces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6499301" y="3944767"/>
            <a:ext cx="2458968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Owner, manager and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roles; each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and user sees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its own data.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4303"/>
            <a:ext cx="29220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IMPACT &amp; API USAGE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04168"/>
            <a:ext cx="714419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70" b="1" kern="0" spc="-143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Practical workflow, wider goals</a:t>
            </a:r>
            <a:endParaRPr lang="en-US" sz="3170" dirty="0"/>
          </a:p>
        </p:txBody>
      </p:sp>
      <p:sp>
        <p:nvSpPr>
          <p:cNvPr id="5" name="Shape 3"/>
          <p:cNvSpPr/>
          <p:nvPr/>
        </p:nvSpPr>
        <p:spPr>
          <a:xfrm>
            <a:off x="548618" y="1328440"/>
            <a:ext cx="3886200" cy="127158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783803" y="1351955"/>
            <a:ext cx="475069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SDG 12 · Responsible consumption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783803" y="1737271"/>
            <a:ext cx="4263040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Targets 12.3 and 12.5: flag questionable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before acceptance and support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informed ordering.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548618" y="2753916"/>
            <a:ext cx="3886200" cy="97631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783803" y="2778398"/>
            <a:ext cx="279194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SDG 8 · Decent work</a:t>
            </a:r>
            <a:endParaRPr lang="en-US" sz="1730" dirty="0"/>
          </a:p>
        </p:txBody>
      </p:sp>
      <p:sp>
        <p:nvSpPr>
          <p:cNvPr id="10" name="Text 8"/>
          <p:cNvSpPr/>
          <p:nvPr/>
        </p:nvSpPr>
        <p:spPr>
          <a:xfrm>
            <a:off x="783803" y="3163714"/>
            <a:ext cx="4626196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Targets 8.2 and 8.3: practical digital tools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repeatable procedures for F&amp;B SMEs.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709182" y="1328626"/>
            <a:ext cx="3886200" cy="310515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45" y="1480542"/>
            <a:ext cx="265602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6E6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&amp; APIs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45" y="1931045"/>
            <a:ext cx="392358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· React, TypeScript, Vite, Tailwind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937745" y="2331095"/>
            <a:ext cx="3657942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&amp; data · Python FastAPI REST,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4937745" y="3028355"/>
            <a:ext cx="4142021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&amp; alerts · RunPod vLLM/Qwen3-VL,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F5F3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Telegram Bot API</a:t>
            </a:r>
            <a:endParaRPr lang="en-US" sz="144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18" y="1328440"/>
            <a:ext cx="3886200" cy="1271588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18" y="2753916"/>
            <a:ext cx="3886200" cy="976312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7782" y="3748460"/>
            <a:ext cx="3429000" cy="557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dashboard interface for a supply chain management system, showing various tabs such as 'Receiving Checks', 'Purchase Orders', 'Activity Log', and 'Stock Count', along with a list of recent deliveries and their statuses.&#10;&#10;AI-generated content may be incorrect.">
            <a:extLst>
              <a:ext uri="{FF2B5EF4-FFF2-40B4-BE49-F238E27FC236}">
                <a16:creationId xmlns:a16="http://schemas.microsoft.com/office/drawing/2014/main" id="{73B14EA9-8449-4CAD-ABA3-F8DB6DFE6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91"/>
            <a:ext cx="9144000" cy="49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5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pic>
        <p:nvPicPr>
          <p:cNvPr id="31" name="Picture 30" descr="The image depicts an SOPBox platform interface with a user creating a workspace for a food and beverage business, inputting details like business name and contact, and setting up rules for quality checks and order management.&#10;&#10;AI-generated content may be incorrect.">
            <a:extLst>
              <a:ext uri="{FF2B5EF4-FFF2-40B4-BE49-F238E27FC236}">
                <a16:creationId xmlns:a16="http://schemas.microsoft.com/office/drawing/2014/main" id="{8A1A374F-63F7-5793-0855-AF7FD6793C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60088" t="9025" r="9425" b="10787"/>
          <a:stretch>
            <a:fillRect/>
          </a:stretch>
        </p:blipFill>
        <p:spPr>
          <a:xfrm>
            <a:off x="5587333" y="431159"/>
            <a:ext cx="2873265" cy="396867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48580" y="374303"/>
            <a:ext cx="21802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SETUP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04168"/>
            <a:ext cx="573607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240" b="1" kern="0" spc="-14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Set up the workspace</a:t>
            </a:r>
            <a:endParaRPr lang="en-US" sz="3240" dirty="0"/>
          </a:p>
        </p:txBody>
      </p:sp>
      <p:sp>
        <p:nvSpPr>
          <p:cNvPr id="5" name="Text 3"/>
          <p:cNvSpPr/>
          <p:nvPr/>
        </p:nvSpPr>
        <p:spPr>
          <a:xfrm>
            <a:off x="548900" y="1312797"/>
            <a:ext cx="68193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 as the owner, then prepare the product catalogue </a:t>
            </a:r>
          </a:p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the team.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919424" y="1891419"/>
            <a:ext cx="1885950" cy="1928813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918270" y="2101379"/>
            <a:ext cx="44942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918270" y="2585145"/>
            <a:ext cx="15149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6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Workspace</a:t>
            </a:r>
            <a:endParaRPr lang="en-US" sz="1660" dirty="0"/>
          </a:p>
        </p:txBody>
      </p:sp>
      <p:sp>
        <p:nvSpPr>
          <p:cNvPr id="9" name="Text 7"/>
          <p:cNvSpPr/>
          <p:nvPr/>
        </p:nvSpPr>
        <p:spPr>
          <a:xfrm>
            <a:off x="918270" y="2956768"/>
            <a:ext cx="2097747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creates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outlet workspace.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013219" y="1891419"/>
            <a:ext cx="1890712" cy="1928813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3014410" y="2101379"/>
            <a:ext cx="50011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3014410" y="2585145"/>
            <a:ext cx="15317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6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Invite team</a:t>
            </a:r>
            <a:endParaRPr lang="en-US" sz="1660" dirty="0"/>
          </a:p>
        </p:txBody>
      </p:sp>
      <p:sp>
        <p:nvSpPr>
          <p:cNvPr id="13" name="Text 11"/>
          <p:cNvSpPr/>
          <p:nvPr/>
        </p:nvSpPr>
        <p:spPr>
          <a:xfrm>
            <a:off x="3014410" y="2956768"/>
            <a:ext cx="2501049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 each invited user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the access they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need.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547688" y="4504841"/>
            <a:ext cx="8048625" cy="381000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548580" y="4626248"/>
            <a:ext cx="28469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sets up the team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5861298" y="4626248"/>
            <a:ext cx="36115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 oversees · Staff receive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424" y="1891419"/>
            <a:ext cx="1885950" cy="1928813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3219" y="1891419"/>
            <a:ext cx="1890712" cy="1928813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504841"/>
            <a:ext cx="804862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68FA-EF10-0C9E-58FE-61E8A248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0F0CF-5E41-C64C-AAB6-44AFD07055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7B972B-9B1D-10EF-6F81-1F8FB1B96496}"/>
              </a:ext>
            </a:extLst>
          </p:cNvPr>
          <p:cNvSpPr/>
          <p:nvPr/>
        </p:nvSpPr>
        <p:spPr>
          <a:xfrm>
            <a:off x="548580" y="374303"/>
            <a:ext cx="21802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SETUP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B83826-3981-67B3-DB73-65F4A1E3724F}"/>
              </a:ext>
            </a:extLst>
          </p:cNvPr>
          <p:cNvSpPr/>
          <p:nvPr/>
        </p:nvSpPr>
        <p:spPr>
          <a:xfrm>
            <a:off x="548580" y="604168"/>
            <a:ext cx="573607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240" b="1" kern="0" spc="-14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Set up the workspace</a:t>
            </a:r>
            <a:endParaRPr lang="en-US" sz="324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F816C7-E712-E8D8-6A35-415B04F8B951}"/>
              </a:ext>
            </a:extLst>
          </p:cNvPr>
          <p:cNvSpPr/>
          <p:nvPr/>
        </p:nvSpPr>
        <p:spPr>
          <a:xfrm>
            <a:off x="547688" y="1329220"/>
            <a:ext cx="68193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 as the owner, then prepare the product catalogue </a:t>
            </a:r>
          </a:p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the team.</a:t>
            </a:r>
            <a:endParaRPr lang="en-US" sz="144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7BB492-63EE-C122-B405-56EBD287C707}"/>
              </a:ext>
            </a:extLst>
          </p:cNvPr>
          <p:cNvSpPr/>
          <p:nvPr/>
        </p:nvSpPr>
        <p:spPr>
          <a:xfrm>
            <a:off x="989506" y="2021485"/>
            <a:ext cx="1890712" cy="1928813"/>
          </a:xfrm>
          <a:prstGeom prst="rect">
            <a:avLst/>
          </a:prstGeom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80B0373-9462-53DA-E68C-098A7D8F2CF1}"/>
              </a:ext>
            </a:extLst>
          </p:cNvPr>
          <p:cNvSpPr/>
          <p:nvPr/>
        </p:nvSpPr>
        <p:spPr>
          <a:xfrm>
            <a:off x="990697" y="2231445"/>
            <a:ext cx="50504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16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57E15B-65B5-2D50-E472-8068CBB4854F}"/>
              </a:ext>
            </a:extLst>
          </p:cNvPr>
          <p:cNvSpPr/>
          <p:nvPr/>
        </p:nvSpPr>
        <p:spPr>
          <a:xfrm>
            <a:off x="990697" y="2715211"/>
            <a:ext cx="1277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6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</a:t>
            </a:r>
            <a:endParaRPr lang="en-US" sz="166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0B9349B-FA86-DBC6-D4F5-17765CE52076}"/>
              </a:ext>
            </a:extLst>
          </p:cNvPr>
          <p:cNvSpPr/>
          <p:nvPr/>
        </p:nvSpPr>
        <p:spPr>
          <a:xfrm>
            <a:off x="990697" y="3086834"/>
            <a:ext cx="2027632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category to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 products.</a:t>
            </a:r>
            <a:endParaRPr lang="en-US" sz="144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03F61B9-87DB-8334-66E2-A689944B46AD}"/>
              </a:ext>
            </a:extLst>
          </p:cNvPr>
          <p:cNvSpPr/>
          <p:nvPr/>
        </p:nvSpPr>
        <p:spPr>
          <a:xfrm>
            <a:off x="547688" y="4504841"/>
            <a:ext cx="8048625" cy="381000"/>
          </a:xfrm>
          <a:prstGeom prst="rect">
            <a:avLst/>
          </a:prstGeom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252847C-6D1A-0D86-0778-49D9B123C028}"/>
              </a:ext>
            </a:extLst>
          </p:cNvPr>
          <p:cNvSpPr/>
          <p:nvPr/>
        </p:nvSpPr>
        <p:spPr>
          <a:xfrm>
            <a:off x="548580" y="4626248"/>
            <a:ext cx="28469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sets up the team</a:t>
            </a:r>
            <a:endParaRPr lang="en-US" sz="144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BFACD23-CE94-AAF2-517C-E9E6C09D0338}"/>
              </a:ext>
            </a:extLst>
          </p:cNvPr>
          <p:cNvSpPr/>
          <p:nvPr/>
        </p:nvSpPr>
        <p:spPr>
          <a:xfrm>
            <a:off x="5861298" y="4626248"/>
            <a:ext cx="36115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 oversees · Staff receive</a:t>
            </a:r>
            <a:endParaRPr lang="en-US" sz="1440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80CAFA7D-B4E7-6436-DFC0-539556C78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332" y="2021485"/>
            <a:ext cx="1890712" cy="1928813"/>
          </a:xfrm>
          <a:prstGeom prst="rect">
            <a:avLst/>
          </a:prstGeom>
        </p:spPr>
      </p:pic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A4AA4F07-F2BE-B32D-C733-FFAF32C3F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504841"/>
            <a:ext cx="8048625" cy="381000"/>
          </a:xfrm>
          <a:prstGeom prst="rect">
            <a:avLst/>
          </a:prstGeom>
        </p:spPr>
      </p:pic>
      <p:pic>
        <p:nvPicPr>
          <p:cNvPr id="34" name="Picture 33" descr="The image displays a product and SOP (Standard Operating Procedure) management sheet, detailing categories and temperature ranges for different types of products.&#10;&#10;AI-generated content may be incorrect.">
            <a:extLst>
              <a:ext uri="{FF2B5EF4-FFF2-40B4-BE49-F238E27FC236}">
                <a16:creationId xmlns:a16="http://schemas.microsoft.com/office/drawing/2014/main" id="{B64506A2-E3E8-3C12-226C-1C2165A93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835" y="1567345"/>
            <a:ext cx="3871376" cy="277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4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9DCD-4B42-185D-D752-FB7472A2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4137FD-7C6D-B7E6-507E-64AAA245E54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717DF0-8C45-EED6-0D45-F253AB387D0B}"/>
              </a:ext>
            </a:extLst>
          </p:cNvPr>
          <p:cNvSpPr/>
          <p:nvPr/>
        </p:nvSpPr>
        <p:spPr>
          <a:xfrm>
            <a:off x="548580" y="374303"/>
            <a:ext cx="21802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SETUP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9061EF-98D5-5580-6D51-7CB4973BD537}"/>
              </a:ext>
            </a:extLst>
          </p:cNvPr>
          <p:cNvSpPr/>
          <p:nvPr/>
        </p:nvSpPr>
        <p:spPr>
          <a:xfrm>
            <a:off x="548580" y="604168"/>
            <a:ext cx="573607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240" b="1" kern="0" spc="-14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Set up the workspace</a:t>
            </a:r>
            <a:endParaRPr lang="en-US" sz="324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269D8C-3D92-1F36-4CC8-4BEDCB1215FD}"/>
              </a:ext>
            </a:extLst>
          </p:cNvPr>
          <p:cNvSpPr/>
          <p:nvPr/>
        </p:nvSpPr>
        <p:spPr>
          <a:xfrm>
            <a:off x="547688" y="1329220"/>
            <a:ext cx="68193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 as the owner, then prepare the product catalogue </a:t>
            </a:r>
          </a:p>
          <a:p>
            <a:pPr marL="0" indent="0" algn="l">
              <a:spcBef>
                <a:spcPts val="810"/>
              </a:spcBef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the team.</a:t>
            </a:r>
            <a:endParaRPr lang="en-US" sz="144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70693FF-F4B6-2292-C63C-C2ED2845310D}"/>
              </a:ext>
            </a:extLst>
          </p:cNvPr>
          <p:cNvSpPr/>
          <p:nvPr/>
        </p:nvSpPr>
        <p:spPr>
          <a:xfrm>
            <a:off x="838133" y="2063456"/>
            <a:ext cx="1890712" cy="1928813"/>
          </a:xfrm>
          <a:prstGeom prst="rect">
            <a:avLst/>
          </a:prstGeom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699D3F2-F76D-0A34-889C-21AE692C7C95}"/>
              </a:ext>
            </a:extLst>
          </p:cNvPr>
          <p:cNvSpPr/>
          <p:nvPr/>
        </p:nvSpPr>
        <p:spPr>
          <a:xfrm>
            <a:off x="839323" y="2273416"/>
            <a:ext cx="51501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16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A0407ED-339D-7A06-5961-65EDDDF3BEFE}"/>
              </a:ext>
            </a:extLst>
          </p:cNvPr>
          <p:cNvSpPr/>
          <p:nvPr/>
        </p:nvSpPr>
        <p:spPr>
          <a:xfrm>
            <a:off x="839323" y="2757182"/>
            <a:ext cx="193996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6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+ SOP</a:t>
            </a:r>
            <a:endParaRPr lang="en-US" sz="166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4FAAE62-AED3-54E9-E093-FC810486E4C2}"/>
              </a:ext>
            </a:extLst>
          </p:cNvPr>
          <p:cNvSpPr/>
          <p:nvPr/>
        </p:nvSpPr>
        <p:spPr>
          <a:xfrm>
            <a:off x="839323" y="3128805"/>
            <a:ext cx="2491375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product rules;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AI to help draft its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SOP.</a:t>
            </a:r>
            <a:endParaRPr lang="en-US" sz="144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87B7DFB-0803-31C3-F18E-144673E8B81E}"/>
              </a:ext>
            </a:extLst>
          </p:cNvPr>
          <p:cNvSpPr/>
          <p:nvPr/>
        </p:nvSpPr>
        <p:spPr>
          <a:xfrm>
            <a:off x="547688" y="4504841"/>
            <a:ext cx="8048625" cy="381000"/>
          </a:xfrm>
          <a:prstGeom prst="rect">
            <a:avLst/>
          </a:prstGeom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CDA809-5301-4254-1D8E-2C30FCB2C10C}"/>
              </a:ext>
            </a:extLst>
          </p:cNvPr>
          <p:cNvSpPr/>
          <p:nvPr/>
        </p:nvSpPr>
        <p:spPr>
          <a:xfrm>
            <a:off x="548580" y="4626248"/>
            <a:ext cx="28469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sets up the team</a:t>
            </a:r>
            <a:endParaRPr lang="en-US" sz="144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1E79019-459D-56FC-C880-DDCE22D37241}"/>
              </a:ext>
            </a:extLst>
          </p:cNvPr>
          <p:cNvSpPr/>
          <p:nvPr/>
        </p:nvSpPr>
        <p:spPr>
          <a:xfrm>
            <a:off x="5861298" y="4626248"/>
            <a:ext cx="36115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 oversees · Staff receive</a:t>
            </a:r>
            <a:endParaRPr lang="en-US" sz="144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BBA6A08D-C2BD-9021-F34B-8DF8DADF0A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33" y="2063456"/>
            <a:ext cx="1890712" cy="1928813"/>
          </a:xfrm>
          <a:prstGeom prst="rect">
            <a:avLst/>
          </a:prstGeom>
        </p:spPr>
      </p:pic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BEE8F999-5484-186F-5BAA-1D5B74AAD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504841"/>
            <a:ext cx="8048625" cy="381000"/>
          </a:xfrm>
          <a:prstGeom prst="rect">
            <a:avLst/>
          </a:prstGeom>
        </p:spPr>
      </p:pic>
      <p:pic>
        <p:nvPicPr>
          <p:cNvPr id="7" name="Picture 6" descr="The image is a user interface for adding a product, specifying details such as category, chiller, count, and pack size, and includes options to set temperature range, pack sizes, and a SOP.&#10;&#10;AI-generated content may be incorrect.">
            <a:extLst>
              <a:ext uri="{FF2B5EF4-FFF2-40B4-BE49-F238E27FC236}">
                <a16:creationId xmlns:a16="http://schemas.microsoft.com/office/drawing/2014/main" id="{1132D0B5-D4AC-35B1-B82C-A7B1F3399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236" y="1400195"/>
            <a:ext cx="3509504" cy="2980674"/>
          </a:xfrm>
          <a:prstGeom prst="rect">
            <a:avLst/>
          </a:prstGeom>
        </p:spPr>
      </p:pic>
      <p:pic>
        <p:nvPicPr>
          <p:cNvPr id="11" name="Picture 10" descr="The image is a product label for a 2kg frozen French fry product with specific handling instructions and preparation details.&#10;&#10;AI-generated content may be incorrect.">
            <a:extLst>
              <a:ext uri="{FF2B5EF4-FFF2-40B4-BE49-F238E27FC236}">
                <a16:creationId xmlns:a16="http://schemas.microsoft.com/office/drawing/2014/main" id="{1DE1DBF3-6858-A45F-7037-03F515D15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761" y="2662280"/>
            <a:ext cx="3798728" cy="18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0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4303"/>
            <a:ext cx="36920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STOCK &amp; ORDERING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08930"/>
            <a:ext cx="764230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00" b="1" kern="0" spc="-139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Count stock, then prepare a PO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134" y="1420899"/>
            <a:ext cx="3910012" cy="3205162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871" y="1590080"/>
            <a:ext cx="16191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COUNT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871" y="1900907"/>
            <a:ext cx="312743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160" b="1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 it your way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822871" y="2415183"/>
            <a:ext cx="4259267" cy="91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counts directly in SOPBox, or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Excel template and upload</a:t>
            </a:r>
            <a:endParaRPr lang="en-US" sz="1580" dirty="0"/>
          </a:p>
          <a:p>
            <a:pPr marL="0" indent="0" algn="l">
              <a:lnSpc>
                <a:spcPts val="2573"/>
              </a:lnSpc>
              <a:buNone/>
            </a:pPr>
            <a:r>
              <a:rPr lang="en-US" sz="158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completed file.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679627" y="3621186"/>
            <a:ext cx="3740304" cy="7378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2857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stock records from the count.</a:t>
            </a:r>
          </a:p>
          <a:p>
            <a:pPr marL="2857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Simplify the process by directly count </a:t>
            </a:r>
          </a:p>
          <a:p>
            <a:pPr>
              <a:spcBef>
                <a:spcPts val="100"/>
              </a:spcBef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the bundle and loose item.</a:t>
            </a:r>
          </a:p>
        </p:txBody>
      </p:sp>
      <p:sp>
        <p:nvSpPr>
          <p:cNvPr id="10" name="Shape 8"/>
          <p:cNvSpPr/>
          <p:nvPr/>
        </p:nvSpPr>
        <p:spPr>
          <a:xfrm>
            <a:off x="4685854" y="1420899"/>
            <a:ext cx="3910012" cy="3205162"/>
          </a:xfrm>
          <a:prstGeom prst="rect">
            <a:avLst/>
          </a:prstGeom>
          <a:solidFill>
            <a:srgbClr val="E4EDDC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3573252"/>
            <a:ext cx="3362325" cy="381000"/>
          </a:xfrm>
          <a:prstGeom prst="rect">
            <a:avLst/>
          </a:prstGeom>
        </p:spPr>
      </p:pic>
      <p:pic>
        <p:nvPicPr>
          <p:cNvPr id="19" name="Picture 18" descr="The image depicts a stock count sheet with sections for products, bundles, loose items, and additional notes, detailing counts for various items such as Coca Cola, Chocolate Ice Cream, and other categories.&#10;&#10;AI-generated content may be incorrect.">
            <a:extLst>
              <a:ext uri="{FF2B5EF4-FFF2-40B4-BE49-F238E27FC236}">
                <a16:creationId xmlns:a16="http://schemas.microsoft.com/office/drawing/2014/main" id="{0687B7CE-D2E7-4253-64C9-AD3F79EC5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351" y="1463234"/>
            <a:ext cx="3541017" cy="31204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33DA-94F8-923B-4BDF-D28D8243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DE9E7C-AB6C-B23A-7094-1C4DC5442B2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8C5B9-9A2B-8B5F-0F0D-4EA576E40D48}"/>
              </a:ext>
            </a:extLst>
          </p:cNvPr>
          <p:cNvSpPr/>
          <p:nvPr/>
        </p:nvSpPr>
        <p:spPr>
          <a:xfrm>
            <a:off x="548580" y="374303"/>
            <a:ext cx="36920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STOCK &amp; ORDERING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2802A7-7631-A508-D8FF-2A56DE6A24B5}"/>
              </a:ext>
            </a:extLst>
          </p:cNvPr>
          <p:cNvSpPr/>
          <p:nvPr/>
        </p:nvSpPr>
        <p:spPr>
          <a:xfrm>
            <a:off x="548580" y="608930"/>
            <a:ext cx="764230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00" b="1" kern="0" spc="-139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Count stock, then prepare a PO</a:t>
            </a:r>
            <a:endParaRPr lang="en-US" sz="3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19C19E6-37F5-97B1-7278-4D5D8C8C752A}"/>
              </a:ext>
            </a:extLst>
          </p:cNvPr>
          <p:cNvSpPr/>
          <p:nvPr/>
        </p:nvSpPr>
        <p:spPr>
          <a:xfrm>
            <a:off x="548134" y="1153120"/>
            <a:ext cx="3910012" cy="3943083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0EDC75B-CC90-9F51-53A8-CE129EF2CDEB}"/>
              </a:ext>
            </a:extLst>
          </p:cNvPr>
          <p:cNvSpPr/>
          <p:nvPr/>
        </p:nvSpPr>
        <p:spPr>
          <a:xfrm>
            <a:off x="4685854" y="1153120"/>
            <a:ext cx="3910012" cy="3943083"/>
          </a:xfrm>
          <a:prstGeom prst="rect">
            <a:avLst/>
          </a:prstGeom>
          <a:solidFill>
            <a:srgbClr val="E4EDDC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207FEF-7F4E-3C7E-8995-5D730DF9E2F3}"/>
              </a:ext>
            </a:extLst>
          </p:cNvPr>
          <p:cNvSpPr/>
          <p:nvPr/>
        </p:nvSpPr>
        <p:spPr>
          <a:xfrm>
            <a:off x="4960590" y="1590080"/>
            <a:ext cx="20056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ORDER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3FC0DC-DA7A-1301-426D-2E9DA1E98AA1}"/>
              </a:ext>
            </a:extLst>
          </p:cNvPr>
          <p:cNvSpPr/>
          <p:nvPr/>
        </p:nvSpPr>
        <p:spPr>
          <a:xfrm>
            <a:off x="4960590" y="1900907"/>
            <a:ext cx="3547951" cy="7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 stock → draft →</a:t>
            </a:r>
            <a:endParaRPr lang="en-US" sz="2160" dirty="0"/>
          </a:p>
          <a:p>
            <a:pPr marL="0" indent="0" algn="l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issue</a:t>
            </a:r>
            <a:endParaRPr lang="en-US" sz="216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161B60-40E6-7F79-8657-6DB6428522C3}"/>
              </a:ext>
            </a:extLst>
          </p:cNvPr>
          <p:cNvSpPr/>
          <p:nvPr/>
        </p:nvSpPr>
        <p:spPr>
          <a:xfrm>
            <a:off x="4960590" y="2802806"/>
            <a:ext cx="3937613" cy="48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Draft an order for products below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threshold.</a:t>
            </a:r>
            <a:endParaRPr lang="en-US" sz="144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17493A-B5FA-102F-0BE4-A8C9D2722EB9}"/>
              </a:ext>
            </a:extLst>
          </p:cNvPr>
          <p:cNvSpPr/>
          <p:nvPr/>
        </p:nvSpPr>
        <p:spPr>
          <a:xfrm>
            <a:off x="4960590" y="3387923"/>
            <a:ext cx="4306089" cy="48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Review and confirm the supplier and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quantities.</a:t>
            </a:r>
            <a:endParaRPr lang="en-US" sz="144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1505DE6-85E0-8A6C-6BE8-510964C572F1}"/>
              </a:ext>
            </a:extLst>
          </p:cNvPr>
          <p:cNvSpPr/>
          <p:nvPr/>
        </p:nvSpPr>
        <p:spPr>
          <a:xfrm>
            <a:off x="4960590" y="3973041"/>
            <a:ext cx="2832668" cy="48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Issue the PO; print it or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save/download as PDF.</a:t>
            </a:r>
            <a:endParaRPr lang="en-US" sz="144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5EDADBB2-5F26-5285-5FD5-467603B3A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3573252"/>
            <a:ext cx="3362325" cy="381000"/>
          </a:xfrm>
          <a:prstGeom prst="rect">
            <a:avLst/>
          </a:prstGeom>
        </p:spPr>
      </p:pic>
      <p:pic>
        <p:nvPicPr>
          <p:cNvPr id="18" name="Picture 17" descr="The image displays a user interface for a purchase order management system, showing a list of items ordered, their quantities, and a section for drafting new orders.&#10;&#10;AI-generated content may be incorrect.">
            <a:extLst>
              <a:ext uri="{FF2B5EF4-FFF2-40B4-BE49-F238E27FC236}">
                <a16:creationId xmlns:a16="http://schemas.microsoft.com/office/drawing/2014/main" id="{A49A1347-9EE1-2EBE-BDFD-6CF4B2D12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75" y="1274820"/>
            <a:ext cx="3576117" cy="1315063"/>
          </a:xfrm>
          <a:prstGeom prst="rect">
            <a:avLst/>
          </a:prstGeom>
        </p:spPr>
      </p:pic>
      <p:pic>
        <p:nvPicPr>
          <p:cNvPr id="20" name="Picture 19" descr="The image displays a digital purchase order for frozen chicken nuggets and French fries, showing details such as the supplier, expected delivery date, and the number of packs ordered.&#10;&#10;AI-generated content may be incorrect.">
            <a:extLst>
              <a:ext uri="{FF2B5EF4-FFF2-40B4-BE49-F238E27FC236}">
                <a16:creationId xmlns:a16="http://schemas.microsoft.com/office/drawing/2014/main" id="{56280BF2-8EC6-A288-8F41-3A2A26A72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75" y="2690468"/>
            <a:ext cx="3576117" cy="231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26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591B-944D-4F63-8544-CEB199DA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2B1E97-7DE3-1824-C58C-B2C4A89D3EE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666EB5-94E8-983E-D7B8-B35CA1409C6E}"/>
              </a:ext>
            </a:extLst>
          </p:cNvPr>
          <p:cNvSpPr/>
          <p:nvPr/>
        </p:nvSpPr>
        <p:spPr>
          <a:xfrm>
            <a:off x="548580" y="374303"/>
            <a:ext cx="43055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RECEIVING &amp; APPROVALS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5ADDBC-BA32-025B-4859-B1B2224C0A00}"/>
              </a:ext>
            </a:extLst>
          </p:cNvPr>
          <p:cNvSpPr/>
          <p:nvPr/>
        </p:nvSpPr>
        <p:spPr>
          <a:xfrm>
            <a:off x="548580" y="608930"/>
            <a:ext cx="713326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100" b="1" kern="0" spc="-139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· Match the DO, check, resolve</a:t>
            </a:r>
            <a:endParaRPr lang="en-US" sz="3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E49EE7-493B-8B84-BF2F-A49AD8CCB671}"/>
              </a:ext>
            </a:extLst>
          </p:cNvPr>
          <p:cNvSpPr/>
          <p:nvPr/>
        </p:nvSpPr>
        <p:spPr>
          <a:xfrm>
            <a:off x="547650" y="1369144"/>
            <a:ext cx="4581525" cy="452437"/>
          </a:xfrm>
          <a:prstGeom prst="rect">
            <a:avLst/>
          </a:prstGeom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C91B92-C3BB-C2A3-00F4-BCA0EF47FC86}"/>
              </a:ext>
            </a:extLst>
          </p:cNvPr>
          <p:cNvSpPr/>
          <p:nvPr/>
        </p:nvSpPr>
        <p:spPr>
          <a:xfrm>
            <a:off x="548580" y="1393924"/>
            <a:ext cx="384125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F20045-F0E6-9172-C75B-6CCF91C1D1D2}"/>
              </a:ext>
            </a:extLst>
          </p:cNvPr>
          <p:cNvSpPr/>
          <p:nvPr/>
        </p:nvSpPr>
        <p:spPr>
          <a:xfrm>
            <a:off x="1024012" y="1398687"/>
            <a:ext cx="52560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the issued PO that matches the delivery.</a:t>
            </a:r>
            <a:endParaRPr lang="en-US" sz="144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D4DC95B-D273-EC7D-C5BC-316A9DAC8CDA}"/>
              </a:ext>
            </a:extLst>
          </p:cNvPr>
          <p:cNvSpPr/>
          <p:nvPr/>
        </p:nvSpPr>
        <p:spPr>
          <a:xfrm>
            <a:off x="547650" y="1934691"/>
            <a:ext cx="4581525" cy="700088"/>
          </a:xfrm>
          <a:prstGeom prst="rect">
            <a:avLst/>
          </a:prstGeom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EC47B5-D954-B119-3EF1-B34A2F719972}"/>
              </a:ext>
            </a:extLst>
          </p:cNvPr>
          <p:cNvSpPr/>
          <p:nvPr/>
        </p:nvSpPr>
        <p:spPr>
          <a:xfrm>
            <a:off x="548580" y="1957536"/>
            <a:ext cx="42630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847A28-A759-E1BA-3114-CB0ABB2B18EA}"/>
              </a:ext>
            </a:extLst>
          </p:cNvPr>
          <p:cNvSpPr/>
          <p:nvPr/>
        </p:nvSpPr>
        <p:spPr>
          <a:xfrm>
            <a:off x="1024012" y="1962299"/>
            <a:ext cx="5123237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the DO. AI reads a document, scanned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PDF or handwritten page.</a:t>
            </a:r>
            <a:endParaRPr lang="en-US" sz="144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A8CCA38-268A-3D89-E126-91AFE4BEF10A}"/>
              </a:ext>
            </a:extLst>
          </p:cNvPr>
          <p:cNvSpPr/>
          <p:nvPr/>
        </p:nvSpPr>
        <p:spPr>
          <a:xfrm>
            <a:off x="548580" y="2772668"/>
            <a:ext cx="430463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8A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070B02-BE79-0657-DEDB-5FBB2211303A}"/>
              </a:ext>
            </a:extLst>
          </p:cNvPr>
          <p:cNvSpPr/>
          <p:nvPr/>
        </p:nvSpPr>
        <p:spPr>
          <a:xfrm>
            <a:off x="1024012" y="2777430"/>
            <a:ext cx="5280533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and correct the lines, confirm, then save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submit.</a:t>
            </a:r>
            <a:endParaRPr lang="en-US" sz="144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8214558-6055-24D8-A0FA-9BB21760B51B}"/>
              </a:ext>
            </a:extLst>
          </p:cNvPr>
          <p:cNvSpPr/>
          <p:nvPr/>
        </p:nvSpPr>
        <p:spPr>
          <a:xfrm>
            <a:off x="311544" y="3405219"/>
            <a:ext cx="5700838" cy="1610315"/>
          </a:xfrm>
          <a:prstGeom prst="rect">
            <a:avLst/>
          </a:prstGeom>
          <a:solidFill>
            <a:srgbClr val="123F2D"/>
          </a:solidFill>
          <a:ln/>
        </p:spPr>
        <p:txBody>
          <a:bodyPr/>
          <a:lstStyle/>
          <a:p>
            <a:endParaRPr lang="en-MY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0C3B8A-98CE-3A9D-4A7D-550DC38D7668}"/>
              </a:ext>
            </a:extLst>
          </p:cNvPr>
          <p:cNvSpPr/>
          <p:nvPr/>
        </p:nvSpPr>
        <p:spPr>
          <a:xfrm>
            <a:off x="548580" y="3540804"/>
            <a:ext cx="27026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6E6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 or damaged</a:t>
            </a:r>
            <a:r>
              <a:rPr lang="en-US" sz="1730" b="1" dirty="0">
                <a:solidFill>
                  <a:srgbClr val="C6E6A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?</a:t>
            </a:r>
            <a:endParaRPr lang="en-US" sz="173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0548355-BBC0-E43F-DB67-3AB46CA955C9}"/>
              </a:ext>
            </a:extLst>
          </p:cNvPr>
          <p:cNvSpPr/>
          <p:nvPr/>
        </p:nvSpPr>
        <p:spPr>
          <a:xfrm>
            <a:off x="548580" y="3938798"/>
            <a:ext cx="3123850" cy="83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Attach a photo as evidence,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send the issue for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approval.</a:t>
            </a:r>
            <a:endParaRPr lang="en-US" sz="144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C53E050-7E7F-0AD9-8D45-85ED670A8792}"/>
              </a:ext>
            </a:extLst>
          </p:cNvPr>
          <p:cNvSpPr/>
          <p:nvPr/>
        </p:nvSpPr>
        <p:spPr>
          <a:xfrm>
            <a:off x="5632140" y="2951187"/>
            <a:ext cx="2733675" cy="1700213"/>
          </a:xfrm>
          <a:prstGeom prst="rect">
            <a:avLst/>
          </a:prstGeom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48D312-71A8-A597-B979-541A503A5A9A}"/>
              </a:ext>
            </a:extLst>
          </p:cNvPr>
          <p:cNvSpPr/>
          <p:nvPr/>
        </p:nvSpPr>
        <p:spPr>
          <a:xfrm>
            <a:off x="3192839" y="3566692"/>
            <a:ext cx="230234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decision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67D107-45F3-93D4-B53D-04438FBAC223}"/>
              </a:ext>
            </a:extLst>
          </p:cNvPr>
          <p:cNvSpPr/>
          <p:nvPr/>
        </p:nvSpPr>
        <p:spPr>
          <a:xfrm>
            <a:off x="3192839" y="3845213"/>
            <a:ext cx="3376918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· reject · return · partial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E2EB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decisions by line</a:t>
            </a:r>
            <a:endParaRPr lang="en-US" sz="144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4D7981F-4EEB-1F5F-6BB0-D3649C2F0F2F}"/>
              </a:ext>
            </a:extLst>
          </p:cNvPr>
          <p:cNvSpPr/>
          <p:nvPr/>
        </p:nvSpPr>
        <p:spPr>
          <a:xfrm>
            <a:off x="3194187" y="4380548"/>
            <a:ext cx="2632033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a reason for the</a:t>
            </a:r>
            <a:endParaRPr lang="en-US" sz="144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decision.</a:t>
            </a:r>
            <a:endParaRPr lang="en-US" sz="144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93BF3E0E-7AF0-3808-569E-C4A50A1B5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369144"/>
            <a:ext cx="4581525" cy="452437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8F8711F7-FB0A-2E94-1248-DA38D95A5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50" y="1934691"/>
            <a:ext cx="4581525" cy="700088"/>
          </a:xfrm>
          <a:prstGeom prst="rect">
            <a:avLst/>
          </a:prstGeom>
        </p:spPr>
      </p:pic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8013604C-C618-C9F7-2698-5A37C3270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2839" y="4415162"/>
            <a:ext cx="2733675" cy="1700213"/>
          </a:xfrm>
          <a:prstGeom prst="rect">
            <a:avLst/>
          </a:prstGeom>
        </p:spPr>
      </p:pic>
      <p:pic>
        <p:nvPicPr>
          <p:cNvPr id="24" name="Picture 23" descr="The image displays an interface for recording a delivery check, including fields for product details, quantities, temperatures, and an option for photos or manual entry.&#10;&#10;AI-generated content may be incorrect.">
            <a:extLst>
              <a:ext uri="{FF2B5EF4-FFF2-40B4-BE49-F238E27FC236}">
                <a16:creationId xmlns:a16="http://schemas.microsoft.com/office/drawing/2014/main" id="{CBD35A1A-3E10-D790-8D0D-49C836DDF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809" y="227617"/>
            <a:ext cx="3085148" cy="3085148"/>
          </a:xfrm>
          <a:custGeom>
            <a:avLst/>
            <a:gdLst>
              <a:gd name="csX0" fmla="*/ 0 w 3085148"/>
              <a:gd name="csY0" fmla="*/ 0 h 3085148"/>
              <a:gd name="csX1" fmla="*/ 647881 w 3085148"/>
              <a:gd name="csY1" fmla="*/ 0 h 3085148"/>
              <a:gd name="csX2" fmla="*/ 1264911 w 3085148"/>
              <a:gd name="csY2" fmla="*/ 0 h 3085148"/>
              <a:gd name="csX3" fmla="*/ 1943643 w 3085148"/>
              <a:gd name="csY3" fmla="*/ 0 h 3085148"/>
              <a:gd name="csX4" fmla="*/ 3085148 w 3085148"/>
              <a:gd name="csY4" fmla="*/ 0 h 3085148"/>
              <a:gd name="csX5" fmla="*/ 3085148 w 3085148"/>
              <a:gd name="csY5" fmla="*/ 678733 h 3085148"/>
              <a:gd name="csX6" fmla="*/ 3085148 w 3085148"/>
              <a:gd name="csY6" fmla="*/ 1234059 h 3085148"/>
              <a:gd name="csX7" fmla="*/ 3085148 w 3085148"/>
              <a:gd name="csY7" fmla="*/ 1789386 h 3085148"/>
              <a:gd name="csX8" fmla="*/ 3085148 w 3085148"/>
              <a:gd name="csY8" fmla="*/ 2406415 h 3085148"/>
              <a:gd name="csX9" fmla="*/ 3085148 w 3085148"/>
              <a:gd name="csY9" fmla="*/ 3085148 h 3085148"/>
              <a:gd name="csX10" fmla="*/ 2560673 w 3085148"/>
              <a:gd name="csY10" fmla="*/ 3085148 h 3085148"/>
              <a:gd name="csX11" fmla="*/ 1974495 w 3085148"/>
              <a:gd name="csY11" fmla="*/ 3085148 h 3085148"/>
              <a:gd name="csX12" fmla="*/ 1357465 w 3085148"/>
              <a:gd name="csY12" fmla="*/ 3085148 h 3085148"/>
              <a:gd name="csX13" fmla="*/ 802138 w 3085148"/>
              <a:gd name="csY13" fmla="*/ 3085148 h 3085148"/>
              <a:gd name="csX14" fmla="*/ 0 w 3085148"/>
              <a:gd name="csY14" fmla="*/ 3085148 h 3085148"/>
              <a:gd name="csX15" fmla="*/ 0 w 3085148"/>
              <a:gd name="csY15" fmla="*/ 2498970 h 3085148"/>
              <a:gd name="csX16" fmla="*/ 0 w 3085148"/>
              <a:gd name="csY16" fmla="*/ 1851089 h 3085148"/>
              <a:gd name="csX17" fmla="*/ 0 w 3085148"/>
              <a:gd name="csY17" fmla="*/ 1203208 h 3085148"/>
              <a:gd name="csX18" fmla="*/ 0 w 3085148"/>
              <a:gd name="csY18" fmla="*/ 0 h 3085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85148" h="3085148" fill="none" extrusionOk="0">
                <a:moveTo>
                  <a:pt x="0" y="0"/>
                </a:moveTo>
                <a:cubicBezTo>
                  <a:pt x="295743" y="17028"/>
                  <a:pt x="415132" y="-9854"/>
                  <a:pt x="647881" y="0"/>
                </a:cubicBezTo>
                <a:cubicBezTo>
                  <a:pt x="880630" y="9854"/>
                  <a:pt x="1063756" y="-26581"/>
                  <a:pt x="1264911" y="0"/>
                </a:cubicBezTo>
                <a:cubicBezTo>
                  <a:pt x="1466066" y="26581"/>
                  <a:pt x="1721927" y="21238"/>
                  <a:pt x="1943643" y="0"/>
                </a:cubicBezTo>
                <a:cubicBezTo>
                  <a:pt x="2165359" y="-21238"/>
                  <a:pt x="2564196" y="-4241"/>
                  <a:pt x="3085148" y="0"/>
                </a:cubicBezTo>
                <a:cubicBezTo>
                  <a:pt x="3107816" y="337211"/>
                  <a:pt x="3078308" y="395750"/>
                  <a:pt x="3085148" y="678733"/>
                </a:cubicBezTo>
                <a:cubicBezTo>
                  <a:pt x="3091988" y="961716"/>
                  <a:pt x="3088328" y="1050072"/>
                  <a:pt x="3085148" y="1234059"/>
                </a:cubicBezTo>
                <a:cubicBezTo>
                  <a:pt x="3081968" y="1418046"/>
                  <a:pt x="3087455" y="1583307"/>
                  <a:pt x="3085148" y="1789386"/>
                </a:cubicBezTo>
                <a:cubicBezTo>
                  <a:pt x="3082841" y="1995465"/>
                  <a:pt x="3115685" y="2222612"/>
                  <a:pt x="3085148" y="2406415"/>
                </a:cubicBezTo>
                <a:cubicBezTo>
                  <a:pt x="3054611" y="2590218"/>
                  <a:pt x="3099099" y="2835984"/>
                  <a:pt x="3085148" y="3085148"/>
                </a:cubicBezTo>
                <a:cubicBezTo>
                  <a:pt x="2948884" y="3059672"/>
                  <a:pt x="2705129" y="3080548"/>
                  <a:pt x="2560673" y="3085148"/>
                </a:cubicBezTo>
                <a:cubicBezTo>
                  <a:pt x="2416218" y="3089748"/>
                  <a:pt x="2181937" y="3092626"/>
                  <a:pt x="1974495" y="3085148"/>
                </a:cubicBezTo>
                <a:cubicBezTo>
                  <a:pt x="1767053" y="3077670"/>
                  <a:pt x="1487611" y="3098222"/>
                  <a:pt x="1357465" y="3085148"/>
                </a:cubicBezTo>
                <a:cubicBezTo>
                  <a:pt x="1227319" y="3072075"/>
                  <a:pt x="1017254" y="3104437"/>
                  <a:pt x="802138" y="3085148"/>
                </a:cubicBezTo>
                <a:cubicBezTo>
                  <a:pt x="587022" y="3065859"/>
                  <a:pt x="199874" y="3097673"/>
                  <a:pt x="0" y="3085148"/>
                </a:cubicBezTo>
                <a:cubicBezTo>
                  <a:pt x="26888" y="2912333"/>
                  <a:pt x="-27706" y="2775363"/>
                  <a:pt x="0" y="2498970"/>
                </a:cubicBezTo>
                <a:cubicBezTo>
                  <a:pt x="27706" y="2222577"/>
                  <a:pt x="-1088" y="2121182"/>
                  <a:pt x="0" y="1851089"/>
                </a:cubicBezTo>
                <a:cubicBezTo>
                  <a:pt x="1088" y="1580996"/>
                  <a:pt x="29544" y="1394893"/>
                  <a:pt x="0" y="1203208"/>
                </a:cubicBezTo>
                <a:cubicBezTo>
                  <a:pt x="-29544" y="1011523"/>
                  <a:pt x="-38320" y="459982"/>
                  <a:pt x="0" y="0"/>
                </a:cubicBezTo>
                <a:close/>
              </a:path>
              <a:path w="3085148" h="3085148" stroke="0" extrusionOk="0">
                <a:moveTo>
                  <a:pt x="0" y="0"/>
                </a:moveTo>
                <a:cubicBezTo>
                  <a:pt x="205851" y="-25130"/>
                  <a:pt x="483855" y="-11183"/>
                  <a:pt x="647881" y="0"/>
                </a:cubicBezTo>
                <a:cubicBezTo>
                  <a:pt x="811907" y="11183"/>
                  <a:pt x="986886" y="14237"/>
                  <a:pt x="1295762" y="0"/>
                </a:cubicBezTo>
                <a:cubicBezTo>
                  <a:pt x="1604638" y="-14237"/>
                  <a:pt x="1681745" y="-7347"/>
                  <a:pt x="1943643" y="0"/>
                </a:cubicBezTo>
                <a:cubicBezTo>
                  <a:pt x="2205541" y="7347"/>
                  <a:pt x="2277342" y="21140"/>
                  <a:pt x="2498970" y="0"/>
                </a:cubicBezTo>
                <a:cubicBezTo>
                  <a:pt x="2720598" y="-21140"/>
                  <a:pt x="2895534" y="16535"/>
                  <a:pt x="3085148" y="0"/>
                </a:cubicBezTo>
                <a:cubicBezTo>
                  <a:pt x="3099050" y="200482"/>
                  <a:pt x="3110579" y="295923"/>
                  <a:pt x="3085148" y="524475"/>
                </a:cubicBezTo>
                <a:cubicBezTo>
                  <a:pt x="3059717" y="753028"/>
                  <a:pt x="3080853" y="916619"/>
                  <a:pt x="3085148" y="1079802"/>
                </a:cubicBezTo>
                <a:cubicBezTo>
                  <a:pt x="3089443" y="1242985"/>
                  <a:pt x="3080524" y="1352015"/>
                  <a:pt x="3085148" y="1604277"/>
                </a:cubicBezTo>
                <a:cubicBezTo>
                  <a:pt x="3089772" y="1856539"/>
                  <a:pt x="3062569" y="1922576"/>
                  <a:pt x="3085148" y="2190455"/>
                </a:cubicBezTo>
                <a:cubicBezTo>
                  <a:pt x="3107727" y="2458334"/>
                  <a:pt x="3052817" y="2834627"/>
                  <a:pt x="3085148" y="3085148"/>
                </a:cubicBezTo>
                <a:cubicBezTo>
                  <a:pt x="2831579" y="3066955"/>
                  <a:pt x="2776111" y="3086433"/>
                  <a:pt x="2560673" y="3085148"/>
                </a:cubicBezTo>
                <a:cubicBezTo>
                  <a:pt x="2345235" y="3083863"/>
                  <a:pt x="2174775" y="3103167"/>
                  <a:pt x="1912792" y="3085148"/>
                </a:cubicBezTo>
                <a:cubicBezTo>
                  <a:pt x="1650809" y="3067129"/>
                  <a:pt x="1509185" y="3095699"/>
                  <a:pt x="1326614" y="3085148"/>
                </a:cubicBezTo>
                <a:cubicBezTo>
                  <a:pt x="1144043" y="3074597"/>
                  <a:pt x="1028165" y="3089229"/>
                  <a:pt x="740436" y="3085148"/>
                </a:cubicBezTo>
                <a:cubicBezTo>
                  <a:pt x="452707" y="3081067"/>
                  <a:pt x="229906" y="3048780"/>
                  <a:pt x="0" y="3085148"/>
                </a:cubicBezTo>
                <a:cubicBezTo>
                  <a:pt x="8898" y="2977449"/>
                  <a:pt x="-7249" y="2777177"/>
                  <a:pt x="0" y="2560673"/>
                </a:cubicBezTo>
                <a:cubicBezTo>
                  <a:pt x="7249" y="2344170"/>
                  <a:pt x="18341" y="2129535"/>
                  <a:pt x="0" y="1943643"/>
                </a:cubicBezTo>
                <a:cubicBezTo>
                  <a:pt x="-18341" y="1757751"/>
                  <a:pt x="-19272" y="1612296"/>
                  <a:pt x="0" y="1357465"/>
                </a:cubicBezTo>
                <a:cubicBezTo>
                  <a:pt x="19272" y="1102634"/>
                  <a:pt x="-10542" y="817635"/>
                  <a:pt x="0" y="678733"/>
                </a:cubicBezTo>
                <a:cubicBezTo>
                  <a:pt x="10542" y="539831"/>
                  <a:pt x="-16075" y="240397"/>
                  <a:pt x="0" y="0"/>
                </a:cubicBezTo>
                <a:close/>
              </a:path>
            </a:pathLst>
          </a:custGeom>
          <a:ln w="635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39436782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25" name="Picture 24" descr="The image depicts a damaged pizza box with visible leaks and a missing label, along with an interface for reporting issues.&#10;&#10;AI-generated content may be incorrect.">
            <a:extLst>
              <a:ext uri="{FF2B5EF4-FFF2-40B4-BE49-F238E27FC236}">
                <a16:creationId xmlns:a16="http://schemas.microsoft.com/office/drawing/2014/main" id="{6880A355-455A-41DB-D856-E5167BD3F8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55" t="2595" r="1593" b="3277"/>
          <a:stretch>
            <a:fillRect/>
          </a:stretch>
        </p:blipFill>
        <p:spPr>
          <a:xfrm>
            <a:off x="6216990" y="3455416"/>
            <a:ext cx="2733675" cy="1519884"/>
          </a:xfrm>
          <a:custGeom>
            <a:avLst/>
            <a:gdLst>
              <a:gd name="csX0" fmla="*/ 0 w 2733675"/>
              <a:gd name="csY0" fmla="*/ 0 h 1519884"/>
              <a:gd name="csX1" fmla="*/ 710756 w 2733675"/>
              <a:gd name="csY1" fmla="*/ 0 h 1519884"/>
              <a:gd name="csX2" fmla="*/ 1394174 w 2733675"/>
              <a:gd name="csY2" fmla="*/ 0 h 1519884"/>
              <a:gd name="csX3" fmla="*/ 2050256 w 2733675"/>
              <a:gd name="csY3" fmla="*/ 0 h 1519884"/>
              <a:gd name="csX4" fmla="*/ 2733675 w 2733675"/>
              <a:gd name="csY4" fmla="*/ 0 h 1519884"/>
              <a:gd name="csX5" fmla="*/ 2733675 w 2733675"/>
              <a:gd name="csY5" fmla="*/ 537026 h 1519884"/>
              <a:gd name="csX6" fmla="*/ 2733675 w 2733675"/>
              <a:gd name="csY6" fmla="*/ 1074051 h 1519884"/>
              <a:gd name="csX7" fmla="*/ 2733675 w 2733675"/>
              <a:gd name="csY7" fmla="*/ 1519884 h 1519884"/>
              <a:gd name="csX8" fmla="*/ 2104930 w 2733675"/>
              <a:gd name="csY8" fmla="*/ 1519884 h 1519884"/>
              <a:gd name="csX9" fmla="*/ 1476185 w 2733675"/>
              <a:gd name="csY9" fmla="*/ 1519884 h 1519884"/>
              <a:gd name="csX10" fmla="*/ 874776 w 2733675"/>
              <a:gd name="csY10" fmla="*/ 1519884 h 1519884"/>
              <a:gd name="csX11" fmla="*/ 0 w 2733675"/>
              <a:gd name="csY11" fmla="*/ 1519884 h 1519884"/>
              <a:gd name="csX12" fmla="*/ 0 w 2733675"/>
              <a:gd name="csY12" fmla="*/ 982858 h 1519884"/>
              <a:gd name="csX13" fmla="*/ 0 w 2733675"/>
              <a:gd name="csY13" fmla="*/ 461031 h 1519884"/>
              <a:gd name="csX14" fmla="*/ 0 w 2733675"/>
              <a:gd name="csY14" fmla="*/ 0 h 151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33675" h="1519884" fill="none" extrusionOk="0">
                <a:moveTo>
                  <a:pt x="0" y="0"/>
                </a:moveTo>
                <a:cubicBezTo>
                  <a:pt x="162137" y="-16465"/>
                  <a:pt x="507068" y="-19142"/>
                  <a:pt x="710756" y="0"/>
                </a:cubicBezTo>
                <a:cubicBezTo>
                  <a:pt x="914444" y="19142"/>
                  <a:pt x="1138384" y="-33223"/>
                  <a:pt x="1394174" y="0"/>
                </a:cubicBezTo>
                <a:cubicBezTo>
                  <a:pt x="1649964" y="33223"/>
                  <a:pt x="1728272" y="14986"/>
                  <a:pt x="2050256" y="0"/>
                </a:cubicBezTo>
                <a:cubicBezTo>
                  <a:pt x="2372240" y="-14986"/>
                  <a:pt x="2395689" y="-14863"/>
                  <a:pt x="2733675" y="0"/>
                </a:cubicBezTo>
                <a:cubicBezTo>
                  <a:pt x="2739993" y="182342"/>
                  <a:pt x="2719800" y="329567"/>
                  <a:pt x="2733675" y="537026"/>
                </a:cubicBezTo>
                <a:cubicBezTo>
                  <a:pt x="2747550" y="744485"/>
                  <a:pt x="2707426" y="873019"/>
                  <a:pt x="2733675" y="1074051"/>
                </a:cubicBezTo>
                <a:cubicBezTo>
                  <a:pt x="2759924" y="1275083"/>
                  <a:pt x="2747612" y="1341689"/>
                  <a:pt x="2733675" y="1519884"/>
                </a:cubicBezTo>
                <a:cubicBezTo>
                  <a:pt x="2529242" y="1506824"/>
                  <a:pt x="2347273" y="1535147"/>
                  <a:pt x="2104930" y="1519884"/>
                </a:cubicBezTo>
                <a:cubicBezTo>
                  <a:pt x="1862587" y="1504621"/>
                  <a:pt x="1664022" y="1518330"/>
                  <a:pt x="1476185" y="1519884"/>
                </a:cubicBezTo>
                <a:cubicBezTo>
                  <a:pt x="1288348" y="1521438"/>
                  <a:pt x="1158638" y="1543887"/>
                  <a:pt x="874776" y="1519884"/>
                </a:cubicBezTo>
                <a:cubicBezTo>
                  <a:pt x="590914" y="1495881"/>
                  <a:pt x="310854" y="1539420"/>
                  <a:pt x="0" y="1519884"/>
                </a:cubicBezTo>
                <a:cubicBezTo>
                  <a:pt x="-21314" y="1270945"/>
                  <a:pt x="-14188" y="1101564"/>
                  <a:pt x="0" y="982858"/>
                </a:cubicBezTo>
                <a:cubicBezTo>
                  <a:pt x="14188" y="864152"/>
                  <a:pt x="-7561" y="644560"/>
                  <a:pt x="0" y="461031"/>
                </a:cubicBezTo>
                <a:cubicBezTo>
                  <a:pt x="7561" y="277502"/>
                  <a:pt x="-22608" y="167321"/>
                  <a:pt x="0" y="0"/>
                </a:cubicBezTo>
                <a:close/>
              </a:path>
              <a:path w="2733675" h="1519884" stroke="0" extrusionOk="0">
                <a:moveTo>
                  <a:pt x="0" y="0"/>
                </a:moveTo>
                <a:cubicBezTo>
                  <a:pt x="168134" y="-2057"/>
                  <a:pt x="422369" y="26996"/>
                  <a:pt x="683419" y="0"/>
                </a:cubicBezTo>
                <a:cubicBezTo>
                  <a:pt x="944469" y="-26996"/>
                  <a:pt x="1042547" y="-8355"/>
                  <a:pt x="1284827" y="0"/>
                </a:cubicBezTo>
                <a:cubicBezTo>
                  <a:pt x="1527107" y="8355"/>
                  <a:pt x="1776371" y="8501"/>
                  <a:pt x="1913572" y="0"/>
                </a:cubicBezTo>
                <a:cubicBezTo>
                  <a:pt x="2050773" y="-8501"/>
                  <a:pt x="2455751" y="-17547"/>
                  <a:pt x="2733675" y="0"/>
                </a:cubicBezTo>
                <a:cubicBezTo>
                  <a:pt x="2719096" y="226526"/>
                  <a:pt x="2709162" y="275591"/>
                  <a:pt x="2733675" y="521827"/>
                </a:cubicBezTo>
                <a:cubicBezTo>
                  <a:pt x="2758188" y="768063"/>
                  <a:pt x="2756968" y="852058"/>
                  <a:pt x="2733675" y="1043654"/>
                </a:cubicBezTo>
                <a:cubicBezTo>
                  <a:pt x="2710382" y="1235250"/>
                  <a:pt x="2744000" y="1295138"/>
                  <a:pt x="2733675" y="1519884"/>
                </a:cubicBezTo>
                <a:cubicBezTo>
                  <a:pt x="2447062" y="1502979"/>
                  <a:pt x="2330966" y="1535506"/>
                  <a:pt x="2104930" y="1519884"/>
                </a:cubicBezTo>
                <a:cubicBezTo>
                  <a:pt x="1878895" y="1504262"/>
                  <a:pt x="1740734" y="1517546"/>
                  <a:pt x="1448848" y="1519884"/>
                </a:cubicBezTo>
                <a:cubicBezTo>
                  <a:pt x="1156962" y="1522222"/>
                  <a:pt x="1121519" y="1536998"/>
                  <a:pt x="847439" y="1519884"/>
                </a:cubicBezTo>
                <a:cubicBezTo>
                  <a:pt x="573359" y="1502770"/>
                  <a:pt x="228169" y="1495768"/>
                  <a:pt x="0" y="1519884"/>
                </a:cubicBezTo>
                <a:cubicBezTo>
                  <a:pt x="-11992" y="1293942"/>
                  <a:pt x="4621" y="1208184"/>
                  <a:pt x="0" y="998057"/>
                </a:cubicBezTo>
                <a:cubicBezTo>
                  <a:pt x="-4621" y="787930"/>
                  <a:pt x="-6424" y="722367"/>
                  <a:pt x="0" y="491429"/>
                </a:cubicBezTo>
                <a:cubicBezTo>
                  <a:pt x="6424" y="260491"/>
                  <a:pt x="14538" y="198685"/>
                  <a:pt x="0" y="0"/>
                </a:cubicBezTo>
                <a:close/>
              </a:path>
            </a:pathLst>
          </a:custGeom>
          <a:ln w="635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3589138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4042847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/>
          <p:cNvSpPr/>
          <p:nvPr/>
        </p:nvSpPr>
        <p:spPr>
          <a:xfrm>
            <a:off x="547650" y="364615"/>
            <a:ext cx="2555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617206"/>
            <a:ext cx="305384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2810" b="1" kern="0" spc="-12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Handle exceptions. </a:t>
            </a:r>
          </a:p>
        </p:txBody>
      </p:sp>
      <p:sp>
        <p:nvSpPr>
          <p:cNvPr id="5" name="Shape 3"/>
          <p:cNvSpPr/>
          <p:nvPr/>
        </p:nvSpPr>
        <p:spPr>
          <a:xfrm>
            <a:off x="547650" y="1213666"/>
            <a:ext cx="3933825" cy="3484455"/>
          </a:xfrm>
          <a:prstGeom prst="rect">
            <a:avLst/>
          </a:prstGeom>
          <a:solidFill>
            <a:srgbClr val="E4EDDC"/>
          </a:solidFill>
          <a:ln/>
        </p:spPr>
      </p:sp>
      <p:sp>
        <p:nvSpPr>
          <p:cNvPr id="6" name="Text 4"/>
          <p:cNvSpPr/>
          <p:nvPr/>
        </p:nvSpPr>
        <p:spPr>
          <a:xfrm>
            <a:off x="768028" y="1657503"/>
            <a:ext cx="20507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RECEIVING ISSUES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28" y="2064778"/>
            <a:ext cx="312211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73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Partial · incorrect · damaged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768028" y="2511869"/>
            <a:ext cx="236764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58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 required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769107" y="3037542"/>
            <a:ext cx="3490912" cy="1047750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768028" y="3234093"/>
            <a:ext cx="319305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owner, manager or chosen staff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member reviews each issue.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68028" y="3893127"/>
            <a:ext cx="356748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 photo and reason. Approve, reject,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or decide by item.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804541" y="142227"/>
            <a:ext cx="3673366" cy="4745078"/>
          </a:xfrm>
          <a:prstGeom prst="rect">
            <a:avLst/>
          </a:prstGeom>
          <a:solidFill>
            <a:srgbClr val="003300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107" y="3037542"/>
            <a:ext cx="3490912" cy="1047750"/>
          </a:xfrm>
          <a:prstGeom prst="rect">
            <a:avLst/>
          </a:prstGeom>
        </p:spPr>
      </p:pic>
      <p:pic>
        <p:nvPicPr>
          <p:cNvPr id="22" name="Picture 21" descr="The image displays a food delivery tracking page, showing a failed delivery for frozen foods, with temperature discrepancies, and pending manager approval.&#10;&#10;AI-generated content may be incorrect.">
            <a:extLst>
              <a:ext uri="{FF2B5EF4-FFF2-40B4-BE49-F238E27FC236}">
                <a16:creationId xmlns:a16="http://schemas.microsoft.com/office/drawing/2014/main" id="{2E14ACFF-35BD-D4B2-86EB-FB022A3527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4" r="-1" b="1474"/>
          <a:stretch>
            <a:fillRect/>
          </a:stretch>
        </p:blipFill>
        <p:spPr>
          <a:xfrm>
            <a:off x="4923717" y="194823"/>
            <a:ext cx="3422498" cy="2950402"/>
          </a:xfrm>
          <a:prstGeom prst="rect">
            <a:avLst/>
          </a:prstGeom>
        </p:spPr>
      </p:pic>
      <p:pic>
        <p:nvPicPr>
          <p:cNvPr id="24" name="Picture 23" descr="The image shows a table on a website or application interface with a user's comment about a damaged item, including details like date and time, and options to accept, return, or reject the item.&#10;&#10;AI-generated content may be incorrect.">
            <a:extLst>
              <a:ext uri="{FF2B5EF4-FFF2-40B4-BE49-F238E27FC236}">
                <a16:creationId xmlns:a16="http://schemas.microsoft.com/office/drawing/2014/main" id="{DEFF5B7C-DF7F-E9DE-90CB-59B6830E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717" y="2017653"/>
            <a:ext cx="3422498" cy="28108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D6E1-1792-D00E-DEEB-33B67CDE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1A48BF-9FA4-3AB2-720E-A94E178C155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B65C9E-3E4A-4897-0A1B-975A6226F023}"/>
              </a:ext>
            </a:extLst>
          </p:cNvPr>
          <p:cNvSpPr/>
          <p:nvPr/>
        </p:nvSpPr>
        <p:spPr>
          <a:xfrm>
            <a:off x="312098" y="390827"/>
            <a:ext cx="2555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E901DC-98FF-BEF0-8AD4-C24A7F45568F}"/>
              </a:ext>
            </a:extLst>
          </p:cNvPr>
          <p:cNvSpPr/>
          <p:nvPr/>
        </p:nvSpPr>
        <p:spPr>
          <a:xfrm>
            <a:off x="312098" y="605237"/>
            <a:ext cx="735914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810" b="1" kern="0" spc="-126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 user access.</a:t>
            </a:r>
            <a:endParaRPr lang="en-US" sz="281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0A1754-7586-2FA7-0A70-AC0869D0AD18}"/>
              </a:ext>
            </a:extLst>
          </p:cNvPr>
          <p:cNvSpPr/>
          <p:nvPr/>
        </p:nvSpPr>
        <p:spPr>
          <a:xfrm>
            <a:off x="236483" y="1110257"/>
            <a:ext cx="4351837" cy="3879529"/>
          </a:xfrm>
          <a:prstGeom prst="rect">
            <a:avLst/>
          </a:prstGeom>
          <a:solidFill>
            <a:srgbClr val="E4EDDC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A3D47F-0B5F-C0F2-488E-55AC92EB720D}"/>
              </a:ext>
            </a:extLst>
          </p:cNvPr>
          <p:cNvSpPr/>
          <p:nvPr/>
        </p:nvSpPr>
        <p:spPr>
          <a:xfrm>
            <a:off x="4761018" y="1662982"/>
            <a:ext cx="3933825" cy="2609850"/>
          </a:xfrm>
          <a:prstGeom prst="rect">
            <a:avLst/>
          </a:prstGeom>
          <a:solidFill>
            <a:srgbClr val="F0EEE5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E33DA7-5408-B0A3-A00E-534701584832}"/>
              </a:ext>
            </a:extLst>
          </p:cNvPr>
          <p:cNvSpPr/>
          <p:nvPr/>
        </p:nvSpPr>
        <p:spPr>
          <a:xfrm>
            <a:off x="4981358" y="1896382"/>
            <a:ext cx="22228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F08A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896168-18A4-4D02-AE12-C0A94D76C3B5}"/>
              </a:ext>
            </a:extLst>
          </p:cNvPr>
          <p:cNvSpPr/>
          <p:nvPr/>
        </p:nvSpPr>
        <p:spPr>
          <a:xfrm>
            <a:off x="4981358" y="2173872"/>
            <a:ext cx="282860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020" b="1" dirty="0">
                <a:solidFill>
                  <a:srgbClr val="123F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Roles and access</a:t>
            </a:r>
            <a:endParaRPr lang="en-US" sz="202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998ECA-DA00-796D-020F-D74771227833}"/>
              </a:ext>
            </a:extLst>
          </p:cNvPr>
          <p:cNvSpPr/>
          <p:nvPr/>
        </p:nvSpPr>
        <p:spPr>
          <a:xfrm>
            <a:off x="4981358" y="2620579"/>
            <a:ext cx="368178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123F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invites managers and staff.</a:t>
            </a:r>
            <a:endParaRPr lang="en-US" sz="158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01463A8-9144-70DC-BCD8-0E991BA6AEFB}"/>
              </a:ext>
            </a:extLst>
          </p:cNvPr>
          <p:cNvSpPr/>
          <p:nvPr/>
        </p:nvSpPr>
        <p:spPr>
          <a:xfrm>
            <a:off x="4982474" y="3006007"/>
            <a:ext cx="3490912" cy="1047750"/>
          </a:xfrm>
          <a:prstGeom prst="rect">
            <a:avLst/>
          </a:prstGeom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F5B6ADC-204A-473A-ED14-3A77CBA7CC12}"/>
              </a:ext>
            </a:extLst>
          </p:cNvPr>
          <p:cNvSpPr/>
          <p:nvPr/>
        </p:nvSpPr>
        <p:spPr>
          <a:xfrm>
            <a:off x="4981358" y="3087709"/>
            <a:ext cx="329553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 a role and limit each person to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173A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selected functions.</a:t>
            </a:r>
            <a:endParaRPr lang="en-US" sz="144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19EE84-CC96-61E9-FB91-1FD2CA496071}"/>
              </a:ext>
            </a:extLst>
          </p:cNvPr>
          <p:cNvSpPr/>
          <p:nvPr/>
        </p:nvSpPr>
        <p:spPr>
          <a:xfrm>
            <a:off x="4981358" y="3596329"/>
            <a:ext cx="335465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workspaces keep each</a:t>
            </a:r>
            <a:endParaRPr lang="en-US" sz="144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40" dirty="0">
                <a:solidFill>
                  <a:srgbClr val="596B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business’s users and records private.</a:t>
            </a:r>
            <a:endParaRPr lang="en-US" sz="1440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5854021-1710-7896-CEC3-737DCE9E3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474" y="3006007"/>
            <a:ext cx="3490912" cy="1047750"/>
          </a:xfrm>
          <a:prstGeom prst="rect">
            <a:avLst/>
          </a:prstGeom>
        </p:spPr>
      </p:pic>
      <p:pic>
        <p:nvPicPr>
          <p:cNvPr id="22" name="Picture 21" descr="The image shows a user interface for managing staff accounts, with sections such as Dashboard, Receiving Check, Delivery Records, Purchase Orders, and various permissions like view, edit, and add.&#10;&#10;AI-generated content may be incorrect.">
            <a:extLst>
              <a:ext uri="{FF2B5EF4-FFF2-40B4-BE49-F238E27FC236}">
                <a16:creationId xmlns:a16="http://schemas.microsoft.com/office/drawing/2014/main" id="{A6CA3385-422E-2D39-4D3B-3F9E826F8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77" y="1245466"/>
            <a:ext cx="4107794" cy="36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8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25723"/>
            <a:ext cx="40478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SOPBOX · SMART RECEIVING 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1729829"/>
            <a:ext cx="4849081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60" b="1" kern="0" spc="-198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clearer flow for</a:t>
            </a:r>
            <a:endParaRPr lang="en-US" sz="3960" dirty="0"/>
          </a:p>
        </p:txBody>
      </p:sp>
      <p:sp>
        <p:nvSpPr>
          <p:cNvPr id="5" name="Text 3"/>
          <p:cNvSpPr/>
          <p:nvPr/>
        </p:nvSpPr>
        <p:spPr>
          <a:xfrm>
            <a:off x="548580" y="2242765"/>
            <a:ext cx="419822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60" b="1" kern="0" spc="-198" dirty="0">
                <a:solidFill>
                  <a:srgbClr val="F5F3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job scope.</a:t>
            </a:r>
            <a:endParaRPr lang="en-US" sz="3960" dirty="0"/>
          </a:p>
        </p:txBody>
      </p:sp>
      <p:sp>
        <p:nvSpPr>
          <p:cNvPr id="6" name="Text 4"/>
          <p:cNvSpPr/>
          <p:nvPr/>
        </p:nvSpPr>
        <p:spPr>
          <a:xfrm>
            <a:off x="548580" y="2995687"/>
            <a:ext cx="641798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660" dirty="0">
                <a:solidFill>
                  <a:srgbClr val="D9E8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reads and drafts. Rules check. Humans approve.</a:t>
            </a:r>
            <a:endParaRPr lang="en-US" sz="1660" dirty="0"/>
          </a:p>
        </p:txBody>
      </p:sp>
      <p:sp>
        <p:nvSpPr>
          <p:cNvPr id="7" name="Text 5"/>
          <p:cNvSpPr/>
          <p:nvPr/>
        </p:nvSpPr>
        <p:spPr>
          <a:xfrm>
            <a:off x="548580" y="4471988"/>
            <a:ext cx="24638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C6E6A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·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F08A16"/>
          </a:solidFill>
          <a:ln/>
        </p:spPr>
      </p:sp>
      <p:sp>
        <p:nvSpPr>
          <p:cNvPr id="9" name="Shape 7"/>
          <p:cNvSpPr/>
          <p:nvPr/>
        </p:nvSpPr>
        <p:spPr>
          <a:xfrm>
            <a:off x="6279356" y="1200150"/>
            <a:ext cx="2681288" cy="27432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56" y="1200150"/>
            <a:ext cx="2681288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927</Words>
  <Application>Microsoft Office PowerPoint</Application>
  <PresentationFormat>On-screen Show (16:9)</PresentationFormat>
  <Paragraphs>216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Space Grotesk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Puteri A'ina Auji Farzana</cp:lastModifiedBy>
  <cp:revision>17</cp:revision>
  <dcterms:created xsi:type="dcterms:W3CDTF">2026-10-24T17:40:36Z</dcterms:created>
  <dcterms:modified xsi:type="dcterms:W3CDTF">2026-10-24T18:39:32Z</dcterms:modified>
</cp:coreProperties>
</file>